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de0353b77d4761" /><Relationship Type="http://schemas.openxmlformats.org/officeDocument/2006/relationships/extended-properties" Target="/docProps/app.xml" Id="R4b341dcff2a141f2" /><Relationship Type="http://schemas.openxmlformats.org/officeDocument/2006/relationships/officeDocument" Target="/ppt/presentation.xml" Id="Ra593051a4b1d47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6b06bbd4634462"/>
  </p:sldMasterIdLst>
  <p:notesMasterIdLst>
    <p:notesMasterId xmlns:r="http://schemas.openxmlformats.org/officeDocument/2006/relationships" r:id="Rc3ee761717a74474"/>
  </p:notesMasterIdLst>
  <p:sldIdLst>
    <p:sldId xmlns:r="http://schemas.openxmlformats.org/officeDocument/2006/relationships" id="256" r:id="R98995a44042a43cf"/>
  </p:sldIdLst>
  <p:sldSz cx="10287000" cy="1828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12962ec5664dd5" /><Relationship Type="http://schemas.openxmlformats.org/officeDocument/2006/relationships/slideMaster" Target="/ppt/slideMasters/slideMaster1.xml" Id="Re96b06bbd4634462" /><Relationship Type="http://schemas.openxmlformats.org/officeDocument/2006/relationships/notesMaster" Target="/ppt/notesMasters/notesMaster1.xml" Id="Rc3ee761717a74474" /><Relationship Type="http://schemas.openxmlformats.org/officeDocument/2006/relationships/presProps" Target="/ppt/presProps.xml" Id="R2fd6c28c6ec843fe" /><Relationship Type="http://schemas.openxmlformats.org/officeDocument/2006/relationships/viewProps" Target="/ppt/viewProps.xml" Id="Rc75d1ef9e2d844eb" /><Relationship Type="http://schemas.openxmlformats.org/officeDocument/2006/relationships/tableStyles" Target="/ppt/tableStyles.xml" Id="R70223bb8de224c5d" /><Relationship Type="http://schemas.openxmlformats.org/officeDocument/2006/relationships/slide" Target="/ppt/slides/slide1.xml" Id="R98995a44042a43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624499d62d4c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2a8a21568649ca" /><Relationship Type="http://schemas.openxmlformats.org/officeDocument/2006/relationships/notesMaster" Target="/ppt/notesMasters/notesMaster1.xml" Id="Rbbbbe9782d0e4e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/Users/littleblueleo/Library/Containers/com.tencent.xinWeChat/Data/Documents/xwechat_files/wxid_th27ayixjr522_1e18/msg/file/2026-07/E-poster Guideline.pdf (mandatory format and required sections)</a:t>
            </a:r>
          </a:p>
          <a:p xmlns:a="http://schemas.openxmlformats.org/drawingml/2006/main">
            <a:r>
              <a:t>- /Users/littleblueleo/Downloads/Eposter.pptx (official template structure and PolyU / Graduate School / CURI logos)</a:t>
            </a:r>
          </a:p>
          <a:p xmlns:a="http://schemas.openxmlformats.org/drawingml/2006/main">
            <a:r>
              <a:t>- /Users/littleblueleo/Documents/ChatGPT/URIS/docs/Undergraduate Research and Innovation Scheme.pdf (registered title, project ID, student, departments, objectives and project context)</a:t>
            </a:r>
          </a:p>
          <a:p xmlns:a="http://schemas.openxmlformats.org/drawingml/2006/main">
            <a:r>
              <a:t>- /Users/littleblueleo/Documents/ChatGPT/URIS/training/leakage_safe_yolov5/EXPERIMENT_RESULTS.md (dataset, test metrics, class metrics, training configuration, timing and resource use)</a:t>
            </a:r>
          </a:p>
          <a:p xmlns:a="http://schemas.openxmlformats.org/drawingml/2006/main">
            <a:r>
              <a:t>- /Users/littleblueleo/Documents/ChatGPT/URIS/training/leakage_safe_yolov5/audit/verification.json (clean split counts and zero cross-split overlaps)</a:t>
            </a:r>
          </a:p>
          <a:p xmlns:a="http://schemas.openxmlformats.org/drawingml/2006/main">
            <a:r>
              <a:t>- /Users/littleblueleo/Documents/ChatGPT/URIS/training/leakage_safe_yolov5/original_model_reference/results.csv (legacy validation artifact)</a:t>
            </a:r>
          </a:p>
          <a:p xmlns:a="http://schemas.openxmlformats.org/drawingml/2006/main">
            <a:r>
              <a:t>- /Users/littleblueleo/Documents/ChatGPT/URIS/training/leakage_safe_yolov5/runs/full_clean_45e/results.csv and results.png (45-epoch training trajectory)</a:t>
            </a:r>
          </a:p>
          <a:p xmlns:a="http://schemas.openxmlformats.org/drawingml/2006/main">
            <a:r>
              <a:t>- /Users/littleblueleo/Documents/ChatGPT/URIS/training/leakage_safe_yolov5/runs/full_clean_test/ (independent clean-test evaluation)</a:t>
            </a:r>
          </a:p>
          <a:p xmlns:a="http://schemas.openxmlformats.org/drawingml/2006/main">
            <a:r>
              <a:t>- https://github.com/Llleeeo/Smoke-and-Fire-detection-model-and-implementation- (repository)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d8b196d2d4f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e6cc856e5b4e2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2017b1352446a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edc47009044b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08d3ca37ae4de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15533ae739452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1d2f95e6f74cf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a36c30bee5454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bcfc3930d5434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7ece893fce41a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a740a754e4b2d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B0E61E5-3690-4C30-905F-EC5FB13B306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71072" y="5681307"/>
            <a:ext cx="8744857" cy="392000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B57CAB2E-0C4D-49C0-BEB5-3DAAD3E1D77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43151" y="10362739"/>
            <a:ext cx="7200698" cy="467452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 xmlns:a="http://schemas.openxmlformats.org/drawingml/2006/main">
            <a:r>
              <a:t>单击此处编辑母版副标题样式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569B4BA-D12D-EADB-FF47-F652FEA004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8549845-A3CF-F34B-5890-452FC2DCE6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0D9147A-4738-581A-B338-BE7CC2A8F4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DA94C02C-6C6F-4672-BB47-81B34642F58D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B0437D9-3C28-458C-A004-4BE1CC89B3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F0CBE8F6-0219-4668-AD14-EBE9BEFFBC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B89E8EC-CF35-6471-A933-A052672760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ED49CD6-786C-8B32-21C1-86CC92A705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E9E7069-0566-A400-863E-851DC116F4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BB2995F8-FBBA-4B83-AF3D-A25A322E05D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AF68630-8E45-4AB7-9F99-A60AE5B5A8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12397" y="11751964"/>
            <a:ext cx="8743850" cy="3632028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4C5DF05B-53C3-4AC1-8D26-5A47156F9D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12397" y="7751320"/>
            <a:ext cx="8743850" cy="4000644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F4E92A5-EE62-59B8-2016-C6C711AED3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F87A960-D44C-2460-FC6A-E1B4FBCB4A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BFEE323-F3AA-BC90-1670-BBDA5D8F5B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CAA65B32-23E6-4537-BA05-01145709B7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DEF6ACC8-8627-4C02-8B9C-4927C17180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421E3807-AD9F-4CD9-824E-D8A08A82E0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771072" y="5281588"/>
            <a:ext cx="4324048" cy="10974412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1A4A9A75-8AD4-4BF5-8E4D-38DFD52B62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5191881" y="5281588"/>
            <a:ext cx="4324048" cy="10974412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D3DA07-CEFA-7F96-5E17-251C6670E4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CFA3160D-0D4C-7374-CC58-56C0386F91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733CAA9-433C-C1C0-A31A-F1D5C30D41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6B250416-842C-4800-BEBE-B638DA2892A0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BD7D18F-9D34-4320-A9CF-212B82184A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048" y="732626"/>
            <a:ext cx="9258905" cy="304800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1CCBBEA0-AD2A-4B7F-B6D6-014A212C60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048" y="4093950"/>
            <a:ext cx="4545794" cy="1706005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87C1B647-6E02-4811-8246-64E5131AC3B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514048" y="5799955"/>
            <a:ext cx="4545794" cy="1053668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E8122728-A2BE-4D35-9D4D-4EE216D3A09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226151" y="4093950"/>
            <a:ext cx="4546801" cy="1706005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943DB5ED-BF7B-4A83-9104-A7FD2E57C08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5226151" y="5799955"/>
            <a:ext cx="4546801" cy="1053668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7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968AB9D-35D1-7A4D-37E0-00007510F7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8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093F23C-16E8-9E79-73D7-E39C8DBF21B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A553D68-D2EB-2B45-34F3-CD151617C6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2EB3A5B2-3AF0-4070-ACF6-40695206470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AE16641-C07D-48A3-9140-86B8A0DB9E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DBCB88-66B4-87E4-9CEB-CD12529007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5375880-6E75-808F-BAC1-4C5F2B374DB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F918BCD-0F83-7CF0-5575-AEC7CFD68C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F38E4B8C-ADC2-4445-BDE1-625BA4D9AB81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BFB1556-0B09-FB41-0A50-8D1FE71D16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9CA373B-9E57-A6CD-4254-5B36B34A1B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CA62610-B8D4-4DA8-4FD0-E5929DC32D4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DB32F88D-A614-4ABB-BAB5-B9A7514858E7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F85CC44-7B07-46E5-92C0-20A2914FCB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048" y="728018"/>
            <a:ext cx="3384651" cy="3098685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7048AF14-0D7C-41DD-9622-C92AADD4EFE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021667" y="728018"/>
            <a:ext cx="5751286" cy="15608617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250D3966-EB67-4FA7-947C-348622AF74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14048" y="3826703"/>
            <a:ext cx="3384651" cy="1250993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2C0D30-ED7F-AFE7-D54D-EF77ABFD298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31A63187-1EF6-2357-7E78-596DDC8CE6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8C22164-1C45-8141-E80B-B343FD6909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950C17C0-1843-4F8D-9A29-2DA1BDE1906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A099263-4106-4C9D-9EE1-7E74D99931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5873" y="12801370"/>
            <a:ext cx="6172603" cy="1511329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D35F4407-8A90-4AD4-965E-6AFE32A2C15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015873" y="1634586"/>
            <a:ext cx="6172603" cy="1097210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EC18F59A-88D2-4397-934B-4BB6EC8F135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015873" y="14312699"/>
            <a:ext cx="6172603" cy="214604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5B7D213-F753-44BF-F67F-BD511ECAA31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F54F8E63-1D77-B2C7-3CC8-268F026110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0D2CF73-2FB2-6EFD-4F4C-0A8F8EEA2D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81F93257-9A5D-4BC1-A02A-2E2B2B0F04FA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BD3F283-893A-48F1-AA3C-4FFB5AB1ED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BF72A245-3A50-410F-AC98-530EA1AF06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306A0B9-1B93-024F-4D9C-D7F873FA46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F99C9B3-68C4-906F-5EE3-006EB227F00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E961DC8-9EB4-6E92-EB72-B5957F8327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3795D2F8-0C8D-4DF0-8054-7D335D84CA10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B8BB7C3D-0C54-4BD6-B941-41FDAD559C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329714" y="1625370"/>
            <a:ext cx="2186215" cy="1463063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47ABC7C0-3F46-46B4-AC57-174A9AC734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072" y="1625370"/>
            <a:ext cx="6461881" cy="14630630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0D6CF31-4110-8CA6-2B39-D04322C9FC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FD15E5E-F31B-1FBE-A688-7E52FA362B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D8F0A64-D37C-467E-B565-79061E6C04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fld id="{7844C7E7-FB32-4B0D-AC29-FB8A08F1155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c3b4f301d740ab" /><Relationship Type="http://schemas.openxmlformats.org/officeDocument/2006/relationships/slideLayout" Target="/ppt/slideLayouts/slideLayout1.xml" Id="R1a9b0bb98b714fcd" /><Relationship Type="http://schemas.openxmlformats.org/officeDocument/2006/relationships/slideLayout" Target="/ppt/slideLayouts/slideLayout2.xml" Id="Rf58acf6d0d9847a1" /><Relationship Type="http://schemas.openxmlformats.org/officeDocument/2006/relationships/slideLayout" Target="/ppt/slideLayouts/slideLayout3.xml" Id="Rb7807025e17b4d79" /><Relationship Type="http://schemas.openxmlformats.org/officeDocument/2006/relationships/slideLayout" Target="/ppt/slideLayouts/slideLayout4.xml" Id="R4f8d9b5bdb0f49ca" /><Relationship Type="http://schemas.openxmlformats.org/officeDocument/2006/relationships/slideLayout" Target="/ppt/slideLayouts/slideLayout5.xml" Id="R729503c0c0f04e2d" /><Relationship Type="http://schemas.openxmlformats.org/officeDocument/2006/relationships/slideLayout" Target="/ppt/slideLayouts/slideLayout6.xml" Id="Rbbe1f60d1e4f4eb7" /><Relationship Type="http://schemas.openxmlformats.org/officeDocument/2006/relationships/slideLayout" Target="/ppt/slideLayouts/slideLayout7.xml" Id="R6828dcd932cc4289" /><Relationship Type="http://schemas.openxmlformats.org/officeDocument/2006/relationships/slideLayout" Target="/ppt/slideLayouts/slideLayout8.xml" Id="R1f6c8a97a0554f1d" /><Relationship Type="http://schemas.openxmlformats.org/officeDocument/2006/relationships/slideLayout" Target="/ppt/slideLayouts/slideLayout9.xml" Id="R41bc6d867f8f429c" /><Relationship Type="http://schemas.openxmlformats.org/officeDocument/2006/relationships/slideLayout" Target="/ppt/slideLayouts/slideLayout10.xml" Id="R400cebe7446c44d1" /><Relationship Type="http://schemas.openxmlformats.org/officeDocument/2006/relationships/slideLayout" Target="/ppt/slideLayouts/slideLayout11.xml" Id="R5224ad88351a429f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6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12816E4-7208-88E6-94D8-107C671981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072" y="1625370"/>
            <a:ext cx="8744857" cy="3049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222354" tIns="111176" rIns="222354" bIns="111176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457412-811A-8C1D-E0E6-17F7142622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072" y="5281588"/>
            <a:ext cx="8744857" cy="109744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222354" tIns="111176" rIns="222354" bIns="111176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28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C80CE60-035C-3D07-2828-443D8DCE31D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771072" y="16662631"/>
            <a:ext cx="2143881" cy="121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222354" tIns="111176" rIns="222354" bIns="111176" anchor="t"/>
          <a:lstStyle xmlns:a="http://schemas.openxmlformats.org/drawingml/2006/main">
            <a:lvl1pPr>
              <a:buNone/>
              <a:defRPr sz="3400"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029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6696D2A-107F-EB9A-90F1-F0B0CC16FF0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514675" y="16662631"/>
            <a:ext cx="3257651" cy="121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222354" tIns="111176" rIns="222354" bIns="111176" anchor="t"/>
          <a:lstStyle xmlns:a="http://schemas.openxmlformats.org/drawingml/2006/main">
            <a:lvl1pPr algn="ctr">
              <a:buNone/>
              <a:defRPr sz="3400"/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1030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7978632-C41E-4450-538D-6B9C0A02508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7372048" y="16662631"/>
            <a:ext cx="2143881" cy="121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222354" tIns="111176" rIns="222354" bIns="111176" anchor="t"/>
          <a:lstStyle xmlns:a="http://schemas.openxmlformats.org/drawingml/2006/main">
            <a:lvl1pPr algn="r">
              <a:buNone/>
              <a:defRPr sz="3400"/>
            </a:lvl1pPr>
          </a:lstStyle>
          <a:p xmlns:a="http://schemas.openxmlformats.org/drawingml/2006/main">
            <a:pPr>
              <a:buNone/>
            </a:pPr>
            <a:fld id="{AA27D613-0FDF-4AED-822C-DB9F6AEDE49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9b0bb98b714fcd"/>
    <p:sldLayoutId xmlns:r="http://schemas.openxmlformats.org/officeDocument/2006/relationships" id="2147483650" r:id="Rf58acf6d0d9847a1"/>
    <p:sldLayoutId xmlns:r="http://schemas.openxmlformats.org/officeDocument/2006/relationships" id="2147483651" r:id="Rb7807025e17b4d79"/>
    <p:sldLayoutId xmlns:r="http://schemas.openxmlformats.org/officeDocument/2006/relationships" id="2147483652" r:id="R4f8d9b5bdb0f49ca"/>
    <p:sldLayoutId xmlns:r="http://schemas.openxmlformats.org/officeDocument/2006/relationships" id="2147483653" r:id="R729503c0c0f04e2d"/>
    <p:sldLayoutId xmlns:r="http://schemas.openxmlformats.org/officeDocument/2006/relationships" id="2147483654" r:id="Rbbe1f60d1e4f4eb7"/>
    <p:sldLayoutId xmlns:r="http://schemas.openxmlformats.org/officeDocument/2006/relationships" id="2147483655" r:id="R6828dcd932cc4289"/>
    <p:sldLayoutId xmlns:r="http://schemas.openxmlformats.org/officeDocument/2006/relationships" id="2147483656" r:id="R1f6c8a97a0554f1d"/>
    <p:sldLayoutId xmlns:r="http://schemas.openxmlformats.org/officeDocument/2006/relationships" id="2147483657" r:id="R41bc6d867f8f429c"/>
    <p:sldLayoutId xmlns:r="http://schemas.openxmlformats.org/officeDocument/2006/relationships" id="2147483658" r:id="R400cebe7446c44d1"/>
    <p:sldLayoutId xmlns:r="http://schemas.openxmlformats.org/officeDocument/2006/relationships" id="2147483659" r:id="R5224ad88351a429f"/>
  </p:sldLayoutIdLst>
  <p:txStyles>
    <p:titleStyle>
      <a:lvl1pPr xmlns:a="http://schemas.openxmlformats.org/drawingml/2006/main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+mj-lt"/>
          <a:ea typeface="+mj-lt"/>
          <a:cs typeface="+mj-lt"/>
        </a:defRPr>
      </a:lvl1pPr>
      <a:lvl2pPr xmlns:a="http://schemas.openxmlformats.org/drawingml/2006/main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Times New Roman"/>
          <a:ea typeface="Times New Roman"/>
          <a:cs typeface="Times New Roman"/>
        </a:defRPr>
      </a:lvl2pPr>
      <a:lvl3pPr xmlns:a="http://schemas.openxmlformats.org/drawingml/2006/main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Times New Roman"/>
          <a:ea typeface="Times New Roman"/>
          <a:cs typeface="Times New Roman"/>
        </a:defRPr>
      </a:lvl3pPr>
      <a:lvl4pPr xmlns:a="http://schemas.openxmlformats.org/drawingml/2006/main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Times New Roman"/>
          <a:ea typeface="Times New Roman"/>
          <a:cs typeface="Times New Roman"/>
        </a:defRPr>
      </a:lvl4pPr>
      <a:lvl5pPr xmlns:a="http://schemas.openxmlformats.org/drawingml/2006/main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Times New Roman"/>
          <a:ea typeface="Times New Roman"/>
          <a:cs typeface="Times New Roman"/>
        </a:defRPr>
      </a:lvl5pPr>
      <a:lvl6pPr xmlns:a="http://schemas.openxmlformats.org/drawingml/2006/main" marL="457200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Times New Roman"/>
          <a:ea typeface="Times New Roman"/>
          <a:cs typeface="Times New Roman"/>
        </a:defRPr>
      </a:lvl6pPr>
      <a:lvl7pPr xmlns:a="http://schemas.openxmlformats.org/drawingml/2006/main" marL="914400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Times New Roman"/>
          <a:ea typeface="Times New Roman"/>
          <a:cs typeface="Times New Roman"/>
        </a:defRPr>
      </a:lvl7pPr>
      <a:lvl8pPr xmlns:a="http://schemas.openxmlformats.org/drawingml/2006/main" marL="1371600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Times New Roman"/>
          <a:ea typeface="Times New Roman"/>
          <a:cs typeface="Times New Roman"/>
        </a:defRPr>
      </a:lvl8pPr>
      <a:lvl9pPr xmlns:a="http://schemas.openxmlformats.org/drawingml/2006/main" marL="1828800" algn="ctr" defTabSz="2224088">
        <a:spcBef>
          <a:spcPct val="0"/>
        </a:spcBef>
        <a:spcAft>
          <a:spcPct val="0"/>
        </a:spcAft>
        <a:buNone/>
        <a:defRPr sz="10700">
          <a:solidFill>
            <a:schemeClr val="tx2"/>
          </a:solidFill>
          <a:latin typeface="Times New Roman"/>
          <a:ea typeface="Times New Roman"/>
          <a:cs typeface="Times New Roman"/>
        </a:defRPr>
      </a:lvl9pPr>
    </p:titleStyle>
    <p:bodyStyle>
      <a:lvl1pPr xmlns:a="http://schemas.openxmlformats.org/drawingml/2006/main" marL="835025" indent="-835025" algn="l" defTabSz="2224088">
        <a:spcBef>
          <a:spcPct val="20000"/>
        </a:spcBef>
        <a:spcAft>
          <a:spcPct val="0"/>
        </a:spcAft>
        <a:buChar char="•"/>
        <a:defRPr sz="7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1806575" indent="-695325" algn="l" defTabSz="2224088">
        <a:spcBef>
          <a:spcPct val="20000"/>
        </a:spcBef>
        <a:spcAft>
          <a:spcPct val="0"/>
        </a:spcAft>
        <a:buChar char="–"/>
        <a:defRPr sz="6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2779713" indent="-555625" algn="l" defTabSz="2224088">
        <a:spcBef>
          <a:spcPct val="20000"/>
        </a:spcBef>
        <a:spcAft>
          <a:spcPct val="0"/>
        </a:spcAft>
        <a:buChar char="•"/>
        <a:defRPr sz="59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3892550" indent="-557213" algn="l" defTabSz="2224088">
        <a:spcBef>
          <a:spcPct val="20000"/>
        </a:spcBef>
        <a:spcAft>
          <a:spcPct val="0"/>
        </a:spcAft>
        <a:buChar char="–"/>
        <a:defRPr sz="49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5003800" indent="-557213" algn="l" defTabSz="2224088">
        <a:spcBef>
          <a:spcPct val="20000"/>
        </a:spcBef>
        <a:spcAft>
          <a:spcPct val="0"/>
        </a:spcAft>
        <a:buChar char="»"/>
        <a:defRPr sz="49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5461000" indent="-557213" algn="l" defTabSz="2224088">
        <a:spcBef>
          <a:spcPct val="20000"/>
        </a:spcBef>
        <a:spcAft>
          <a:spcPct val="0"/>
        </a:spcAft>
        <a:buChar char="»"/>
        <a:defRPr sz="49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5918200" indent="-557213" algn="l" defTabSz="2224088">
        <a:spcBef>
          <a:spcPct val="20000"/>
        </a:spcBef>
        <a:spcAft>
          <a:spcPct val="0"/>
        </a:spcAft>
        <a:buChar char="»"/>
        <a:defRPr sz="49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6375400" indent="-557213" algn="l" defTabSz="2224088">
        <a:spcBef>
          <a:spcPct val="20000"/>
        </a:spcBef>
        <a:spcAft>
          <a:spcPct val="0"/>
        </a:spcAft>
        <a:buChar char="»"/>
        <a:defRPr sz="49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6832600" indent="-557213" algn="l" defTabSz="2224088">
        <a:spcBef>
          <a:spcPct val="20000"/>
        </a:spcBef>
        <a:spcAft>
          <a:spcPct val="0"/>
        </a:spcAft>
        <a:buChar char="»"/>
        <a:defRPr sz="49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3a3249b8b8c419f" /><Relationship Type="http://schemas.openxmlformats.org/officeDocument/2006/relationships/image" Target="/ppt/media/image.png" Id="Re1af849631e34573" /><Relationship Type="http://schemas.openxmlformats.org/officeDocument/2006/relationships/image" Target="/ppt/media/image2.png" Id="R1d4df5f82ca14cdd" /><Relationship Type="http://schemas.openxmlformats.org/officeDocument/2006/relationships/image" Target="/ppt/media/image3.png" Id="R001982d6db404527" /><Relationship Type="http://schemas.openxmlformats.org/officeDocument/2006/relationships/image" Target="/ppt/media/image4.png" Id="R59f9e95952bd478d" /><Relationship Type="http://schemas.openxmlformats.org/officeDocument/2006/relationships/image" Target="/ppt/media/image5.png" Id="Rc56cd6f06e7943e8" /><Relationship Type="http://schemas.openxmlformats.org/officeDocument/2006/relationships/notesSlide" Target="/ppt/notesSlides/notesSlide1.xml" Id="Rb2d2bc6bf0454a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5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4C08971-6CE7-5753-907E-0EA7C7AD8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6700" y="1066800"/>
            <a:ext cx="9753600" cy="952500"/>
          </a:xfrm>
        </p:spPr>
        <p:txBody>
          <a:bodyPr xmlns:a="http://schemas.openxmlformats.org/drawingml/2006/main" wrap="square" lIns="76200" tIns="0" rIns="762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4000"/>
              </a:lnSpc>
              <a:buNone/>
              <a:defRPr sz="2363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363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AI Fireguard: An AI-Driven Fire Prevention System</a:t>
            </a:r>
            <a:endParaRPr sz="3000" b="1">
              <a:solidFill>
                <a:schemeClr val="tx1"/>
              </a:solidFill>
            </a:endParaRPr>
          </a:p>
          <a:p xmlns:a="http://schemas.openxmlformats.org/drawingml/2006/main">
            <a:pPr algn="ctr">
              <a:lnSpc>
                <a:spcPct val="94000"/>
              </a:lnSpc>
              <a:buNone/>
              <a:defRPr sz="2363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363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with Advanced Monitoring, Data Analytics and Computer Vision</a:t>
            </a:r>
            <a:endParaRPr sz="3000" b="1">
              <a:solidFill>
                <a:schemeClr val="tx1"/>
              </a:solidFill>
            </a:endParaRPr>
          </a:p>
        </p:txBody>
      </p:sp>
      <p:sp>
        <p:nvSpPr>
          <p:cNvPr id="3097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41DA208-76CB-DAE3-22BC-029970D4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057400"/>
            <a:ext cx="9601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9525" rIns="57150" bIns="9525" anchor="ctr">
            <a:noAutofit/>
          </a:bodyPr>
          <a:lstStyle xmlns:a="http://schemas.openxmlformats.org/drawingml/2006/main">
            <a:lvl1pPr defTabSz="2224088">
              <a:spcBef>
                <a:spcPct val="20000"/>
              </a:spcBef>
              <a:buChar char="•"/>
              <a:defRPr sz="78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742950" indent="-285750" defTabSz="2224088">
              <a:spcBef>
                <a:spcPct val="20000"/>
              </a:spcBef>
              <a:buChar char="–"/>
              <a:defRPr sz="68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1143000" indent="-228600" defTabSz="2224088">
              <a:spcBef>
                <a:spcPct val="20000"/>
              </a:spcBef>
              <a:buChar char="•"/>
              <a:defRPr sz="59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600200" indent="-228600" defTabSz="2224088">
              <a:spcBef>
                <a:spcPct val="20000"/>
              </a:spcBef>
              <a:buChar char="–"/>
              <a:defRPr sz="49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2057400" indent="-228600" defTabSz="2224088">
              <a:spcBef>
                <a:spcPct val="20000"/>
              </a:spcBef>
              <a:buChar char="»"/>
              <a:defRPr sz="49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defTabSz="2224088">
              <a:spcBef>
                <a:spcPct val="20000"/>
              </a:spcBef>
              <a:spcAft>
                <a:spcPct val="0"/>
              </a:spcAft>
              <a:buChar char="»"/>
              <a:defRPr sz="49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6pPr>
            <a:lvl7pPr marL="2971800" indent="-228600" defTabSz="2224088">
              <a:spcBef>
                <a:spcPct val="20000"/>
              </a:spcBef>
              <a:spcAft>
                <a:spcPct val="0"/>
              </a:spcAft>
              <a:buChar char="»"/>
              <a:defRPr sz="49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7pPr>
            <a:lvl8pPr marL="3429000" indent="-228600" defTabSz="2224088">
              <a:spcBef>
                <a:spcPct val="20000"/>
              </a:spcBef>
              <a:spcAft>
                <a:spcPct val="0"/>
              </a:spcAft>
              <a:buChar char="»"/>
              <a:defRPr sz="49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8pPr>
            <a:lvl9pPr marL="3886200" indent="-228600" defTabSz="2224088">
              <a:spcBef>
                <a:spcPct val="20000"/>
              </a:spcBef>
              <a:spcAft>
                <a:spcPct val="0"/>
              </a:spcAft>
              <a:buChar char="»"/>
              <a:defRPr sz="49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lnSpc>
                <a:spcPct val="104000"/>
              </a:lnSpc>
              <a:spcBef>
                <a:spcPct val="0"/>
              </a:spcBef>
              <a:buFontTx/>
              <a:buNone/>
              <a:defRPr sz="1313" b="1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313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Student: YUAN Haoming | Department: DSAI</a:t>
            </a:r>
          </a:p>
          <a:p xmlns:a="http://schemas.openxmlformats.org/drawingml/2006/main">
            <a:pPr algn="ctr">
              <a:lnSpc>
                <a:spcPct val="104000"/>
              </a:lnSpc>
              <a:spcBef>
                <a:spcPct val="0"/>
              </a:spcBef>
              <a:buFontTx/>
              <a:buNone/>
              <a:defRPr sz="1313" b="1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313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Chief Supervisor: TSANG Yuen Hong | Department: AP | URIS P0053535 | TAG3</a:t>
            </a:r>
            <a:endParaRPr sz="2200" b="1"/>
          </a:p>
        </p:txBody>
      </p:sp>
      <p:sp>
        <p:nvSpPr>
          <p:cNvPr id="3099" name="Text Box 378">
            <a:extLst xmlns:a="http://schemas.openxmlformats.org/drawingml/2006/main">
              <a:ext uri="{FF2B5EF4-FFF2-40B4-BE49-F238E27FC236}">
                <a16:creationId xmlns:a16="http://schemas.microsoft.com/office/drawing/2014/main" id="{C8CA18BD-D030-ACFE-4350-137763A5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7165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lvl1pPr defTabSz="460375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742950" indent="-285750" defTabSz="460375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1143000" indent="-228600" defTabSz="460375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600200" indent="-228600" defTabSz="460375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2057400" indent="-228600" defTabSz="460375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 defTabSz="460375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6pPr>
            <a:lvl7pPr marL="2971800" indent="-228600" defTabSz="460375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7pPr>
            <a:lvl8pPr marL="3429000" indent="-228600" defTabSz="460375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8pPr>
            <a:lvl9pPr marL="3886200" indent="-228600" defTabSz="460375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spcBef>
                <a:spcPct val="50000"/>
              </a:spcBef>
              <a:buNone/>
              <a:defRPr sz="1088" b="1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65727D"/>
                </a:solidFill>
                <a:latin typeface="Arial"/>
                <a:ea typeface="Arial"/>
                <a:cs typeface="Arial"/>
              </a:rPr>
              <a:t>23099168D@connect.polyu.hk  |  Research prototype - complements, not replaces, certified fire-safety systems</a:t>
            </a:r>
            <a:endParaRPr sz="1600"/>
          </a:p>
        </p:txBody>
      </p:sp>
      <p:sp>
        <p:nvSpPr>
          <p:cNvPr id="3112" name="Rectangle 7548">
            <a:extLst xmlns:a="http://schemas.openxmlformats.org/drawingml/2006/main">
              <a:ext uri="{FF2B5EF4-FFF2-40B4-BE49-F238E27FC236}">
                <a16:creationId xmlns:a16="http://schemas.microsoft.com/office/drawing/2014/main" id="{16B2E2EF-09B5-3F37-1E7C-C1D824BC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524250"/>
            <a:ext cx="4000500" cy="14001750"/>
          </a:xfrm>
          <a:prstGeom xmlns:a="http://schemas.openxmlformats.org/drawingml/2006/main" prst="roundRect">
            <a:avLst>
              <a:gd name="adj" fmla="val 381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6E0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none" anchor="ctr"/>
          <a:lstStyle xmlns:a="http://schemas.openxmlformats.org/drawingml/2006/main">
            <a:lvl1pPr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742950" indent="-285750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1143000" indent="-228600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600200" indent="-228600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2057400" indent="-228600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114" name="Rectangle 7550">
            <a:extLst xmlns:a="http://schemas.openxmlformats.org/drawingml/2006/main">
              <a:ext uri="{FF2B5EF4-FFF2-40B4-BE49-F238E27FC236}">
                <a16:creationId xmlns:a16="http://schemas.microsoft.com/office/drawing/2014/main" id="{2C625523-2568-E594-449C-36C0989D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524250"/>
            <a:ext cx="5600700" cy="14001750"/>
          </a:xfrm>
          <a:prstGeom xmlns:a="http://schemas.openxmlformats.org/drawingml/2006/main" prst="roundRect">
            <a:avLst>
              <a:gd name="adj" fmla="val 272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6E0E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none" anchor="ctr"/>
          <a:lstStyle xmlns:a="http://schemas.openxmlformats.org/drawingml/2006/main">
            <a:lvl1pPr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1pPr>
            <a:lvl2pPr marL="742950" indent="-285750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2pPr>
            <a:lvl3pPr marL="1143000" indent="-228600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3pPr>
            <a:lvl4pPr marL="1600200" indent="-228600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4pPr>
            <a:lvl5pPr marL="2057400" indent="-228600"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5pPr>
            <a:lvl6pPr marL="2514600" indent="-228600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6pPr>
            <a:lvl7pPr marL="2971800" indent="-228600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7pPr>
            <a:lvl8pPr marL="3429000" indent="-228600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8pPr>
            <a:lvl9pPr marL="3886200" indent="-228600">
              <a:spcBef>
                <a:spcPct val="0"/>
              </a:spcBef>
              <a:spcAft>
                <a:spcPct val="0"/>
              </a:spcAft>
              <a:buNone/>
              <a:defRPr sz="750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defRPr>
            </a:lvl9pPr>
          </a:lstStyle>
          <a:p xmlns:a="http://schemas.openxmlformats.org/drawingml/2006/main">
            <a:endParaRPr/>
          </a:p>
        </p:txBody>
      </p:sp>
      <p:pic>
        <p:nvPicPr>
          <p:cNvPr id="3188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af849631e345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4303" y="379764"/>
            <a:ext cx="3275956" cy="627332"/>
          </a:xfrm>
          <a:prstGeom xmlns:a="http://schemas.openxmlformats.org/drawingml/2006/main" prst="rect">
            <a:avLst/>
          </a:prstGeom>
        </p:spPr>
      </p:pic>
      <p:pic>
        <p:nvPicPr>
          <p:cNvPr id="3189" name="Pictur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4df5f82ca14c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30692" y="300245"/>
            <a:ext cx="2152968" cy="634843"/>
          </a:xfrm>
          <a:prstGeom xmlns:a="http://schemas.openxmlformats.org/drawingml/2006/main" prst="rect">
            <a:avLst/>
          </a:prstGeom>
        </p:spPr>
      </p:pic>
      <p:pic>
        <p:nvPicPr>
          <p:cNvPr id="3190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982d6db4045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56747" y="345287"/>
            <a:ext cx="3097530" cy="656985"/>
          </a:xfrm>
          <a:prstGeom xmlns:a="http://schemas.openxmlformats.org/drawingml/2006/main" prst="rect">
            <a:avLst/>
          </a:prstGeom>
        </p:spPr>
      </p:pic>
      <p:sp>
        <p:nvSpPr>
          <p:cNvPr id="3126" name="section-I-Introduction">
            <a:extLst xmlns:a="http://schemas.openxmlformats.org/drawingml/2006/main">
              <a:ext uri="{FF2B5EF4-FFF2-40B4-BE49-F238E27FC236}">
                <a16:creationId xmlns:a16="http://schemas.microsoft.com/office/drawing/2014/main" id="{8A357269-16BE-417F-BD98-0FFB9228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705225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I. Introduction</a:t>
            </a:r>
          </a:p>
        </p:txBody>
      </p:sp>
      <p:sp>
        <p:nvSpPr>
          <p:cNvPr id="3127" name="section-rule-I">
            <a:extLst xmlns:a="http://schemas.openxmlformats.org/drawingml/2006/main">
              <a:ext uri="{FF2B5EF4-FFF2-40B4-BE49-F238E27FC236}">
                <a16:creationId xmlns:a16="http://schemas.microsoft.com/office/drawing/2014/main" id="{DB1A7123-48ED-4D46-9D94-507B2C41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48125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9B77"/>
            </a:solidFill>
            <a:prstDash val="solid"/>
          </a:ln>
        </p:spPr>
      </p:sp>
      <p:sp>
        <p:nvSpPr>
          <p:cNvPr id="3128" name="introduction-bullets">
            <a:extLst xmlns:a="http://schemas.openxmlformats.org/drawingml/2006/main">
              <a:ext uri="{FF2B5EF4-FFF2-40B4-BE49-F238E27FC236}">
                <a16:creationId xmlns:a16="http://schemas.microsoft.com/office/drawing/2014/main" id="{5C681829-0E25-490F-81C4-4A1AA27E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124325"/>
            <a:ext cx="3581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Autofit/>
          </a:bodyPr>
          <a:lstStyle xmlns:a="http://schemas.openxmlformats.org/drawingml/2006/main"/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6"/>
              </a:spcAft>
              <a:buNone/>
              <a:defRPr sz="1238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238">
                <a:solidFill>
                  <a:srgbClr val="34424F"/>
                </a:solidFill>
                <a:latin typeface="Arial"/>
                <a:ea typeface="Arial"/>
                <a:cs typeface="Arial"/>
              </a:rPr>
              <a:t>Discarded cigarettes and delayed smoke can precede serious fires. AI Fireguard uses YOLOv5 to localise cigarette, flame and smoke for earlier human-verified alerts and later response planning.</a:t>
            </a:r>
          </a:p>
        </p:txBody>
      </p:sp>
      <p:sp>
        <p:nvSpPr>
          <p:cNvPr id="3129" name="section-II-Objectives">
            <a:extLst xmlns:a="http://schemas.openxmlformats.org/drawingml/2006/main">
              <a:ext uri="{FF2B5EF4-FFF2-40B4-BE49-F238E27FC236}">
                <a16:creationId xmlns:a16="http://schemas.microsoft.com/office/drawing/2014/main" id="{2BE15148-F748-444D-A795-99B81335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048250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II. Objectives</a:t>
            </a:r>
          </a:p>
        </p:txBody>
      </p:sp>
      <p:sp>
        <p:nvSpPr>
          <p:cNvPr id="3130" name="section-rule-II">
            <a:extLst xmlns:a="http://schemas.openxmlformats.org/drawingml/2006/main">
              <a:ext uri="{FF2B5EF4-FFF2-40B4-BE49-F238E27FC236}">
                <a16:creationId xmlns:a16="http://schemas.microsoft.com/office/drawing/2014/main" id="{663FF687-5FE9-473C-9504-466470E1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39115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9B77"/>
            </a:solidFill>
            <a:prstDash val="solid"/>
          </a:ln>
        </p:spPr>
      </p:sp>
      <p:sp>
        <p:nvSpPr>
          <p:cNvPr id="3131" name="objectives-bullets">
            <a:extLst xmlns:a="http://schemas.openxmlformats.org/drawingml/2006/main">
              <a:ext uri="{FF2B5EF4-FFF2-40B4-BE49-F238E27FC236}">
                <a16:creationId xmlns:a16="http://schemas.microsoft.com/office/drawing/2014/main" id="{CB5C85F6-9558-4C43-990C-921DA9A7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467350"/>
            <a:ext cx="3581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Autofit/>
          </a:bodyPr>
          <a:lstStyle xmlns:a="http://schemas.openxmlformats.org/drawingml/2006/main"/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8"/>
              </a:spcAft>
              <a:buNone/>
              <a:defRPr sz="120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Build a clean three-class YOLOv5 pipeline.</a:t>
            </a:r>
          </a:p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8"/>
              </a:spcAft>
              <a:buNone/>
              <a:defRPr sz="120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Remove split leakage and label mismatch.</a:t>
            </a:r>
          </a:p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8"/>
              </a:spcAft>
              <a:buNone/>
              <a:defRPr sz="120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Quantify independent-test accuracy, class errors and inference cost.</a:t>
            </a:r>
          </a:p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8"/>
              </a:spcAft>
              <a:buNone/>
              <a:defRPr sz="120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Define the evidence required before deployment.</a:t>
            </a:r>
          </a:p>
        </p:txBody>
      </p:sp>
      <p:sp>
        <p:nvSpPr>
          <p:cNvPr id="3132" name="section-III-Methodology">
            <a:extLst xmlns:a="http://schemas.openxmlformats.org/drawingml/2006/main">
              <a:ext uri="{FF2B5EF4-FFF2-40B4-BE49-F238E27FC236}">
                <a16:creationId xmlns:a16="http://schemas.microsoft.com/office/drawing/2014/main" id="{A2F041EA-09F1-4ABB-8E02-D4245A51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534150"/>
            <a:ext cx="3581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III. Methodology</a:t>
            </a:r>
          </a:p>
        </p:txBody>
      </p:sp>
      <p:sp>
        <p:nvSpPr>
          <p:cNvPr id="3133" name="section-rule-III">
            <a:extLst xmlns:a="http://schemas.openxmlformats.org/drawingml/2006/main">
              <a:ext uri="{FF2B5EF4-FFF2-40B4-BE49-F238E27FC236}">
                <a16:creationId xmlns:a16="http://schemas.microsoft.com/office/drawing/2014/main" id="{349D510D-9402-4836-A20F-D3861B57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877050"/>
            <a:ext cx="358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9B77"/>
            </a:solidFill>
            <a:prstDash val="solid"/>
          </a:ln>
        </p:spPr>
      </p:sp>
      <p:sp>
        <p:nvSpPr>
          <p:cNvPr id="3134" name="method-flow-spine">
            <a:extLst xmlns:a="http://schemas.openxmlformats.org/drawingml/2006/main">
              <a:ext uri="{FF2B5EF4-FFF2-40B4-BE49-F238E27FC236}">
                <a16:creationId xmlns:a16="http://schemas.microsoft.com/office/drawing/2014/main" id="{A31872D6-1543-4C02-B553-27CA42B3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96150"/>
            <a:ext cx="0" cy="3181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9B77"/>
            </a:solidFill>
            <a:prstDash val="solid"/>
          </a:ln>
        </p:spPr>
      </p:sp>
      <p:sp>
        <p:nvSpPr>
          <p:cNvPr id="3135" name="flow-marker-1">
            <a:extLst xmlns:a="http://schemas.openxmlformats.org/drawingml/2006/main">
              <a:ext uri="{FF2B5EF4-FFF2-40B4-BE49-F238E27FC236}">
                <a16:creationId xmlns:a16="http://schemas.microsoft.com/office/drawing/2014/main" id="{69394FB9-06EA-4C3F-BB92-93479C33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2009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B77"/>
          </a:solidFill>
          <a:ln xmlns:a="http://schemas.openxmlformats.org/drawingml/2006/main" w="0">
            <a:solidFill>
              <a:srgbClr val="009B77"/>
            </a:solidFill>
            <a:prstDash val="solid"/>
          </a:ln>
        </p:spPr>
      </p:sp>
      <p:sp>
        <p:nvSpPr>
          <p:cNvPr id="3136" name="flow-number-1">
            <a:extLst xmlns:a="http://schemas.openxmlformats.org/drawingml/2006/main">
              <a:ext uri="{FF2B5EF4-FFF2-40B4-BE49-F238E27FC236}">
                <a16:creationId xmlns:a16="http://schemas.microsoft.com/office/drawing/2014/main" id="{D759B34E-EB88-44F9-9956-1A23E9F6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2009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137" name="flow-step-1">
            <a:extLst xmlns:a="http://schemas.openxmlformats.org/drawingml/2006/main">
              <a:ext uri="{FF2B5EF4-FFF2-40B4-BE49-F238E27FC236}">
                <a16:creationId xmlns:a16="http://schemas.microsoft.com/office/drawing/2014/main" id="{234B2AB0-3085-4A86-83D1-E93A6110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7029450"/>
            <a:ext cx="3152775" cy="6477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EAF6F3"/>
          </a:solidFill>
          <a:ln xmlns:a="http://schemas.openxmlformats.org/drawingml/2006/main" w="9525">
            <a:solidFill>
              <a:srgbClr val="B7DED5"/>
            </a:solidFill>
            <a:prstDash val="solid"/>
          </a:ln>
        </p:spPr>
        <p:txBody>
          <a:bodyPr xmlns:a="http://schemas.openxmlformats.org/drawingml/2006/main" wrap="square" lIns="114300" tIns="57150" rIns="95250" bIns="571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Group source images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>
                <a:solidFill>
                  <a:srgbClr val="34424F"/>
                </a:solidFill>
                <a:latin typeface="Arial"/>
                <a:ea typeface="Arial"/>
                <a:cs typeface="Arial"/>
              </a:rPr>
              <a:t>Retain background-only negatives</a:t>
            </a:r>
          </a:p>
        </p:txBody>
      </p:sp>
      <p:sp>
        <p:nvSpPr>
          <p:cNvPr id="3138" name="flow-marker-2">
            <a:extLst xmlns:a="http://schemas.openxmlformats.org/drawingml/2006/main">
              <a:ext uri="{FF2B5EF4-FFF2-40B4-BE49-F238E27FC236}">
                <a16:creationId xmlns:a16="http://schemas.microsoft.com/office/drawing/2014/main" id="{9772B184-6503-4CA3-8293-3D8393E7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9057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1F35"/>
          </a:solidFill>
          <a:ln xmlns:a="http://schemas.openxmlformats.org/drawingml/2006/main" w="0">
            <a:solidFill>
              <a:srgbClr val="8E1F35"/>
            </a:solidFill>
            <a:prstDash val="solid"/>
          </a:ln>
        </p:spPr>
      </p:sp>
      <p:sp>
        <p:nvSpPr>
          <p:cNvPr id="3139" name="flow-number-2">
            <a:extLst xmlns:a="http://schemas.openxmlformats.org/drawingml/2006/main">
              <a:ext uri="{FF2B5EF4-FFF2-40B4-BE49-F238E27FC236}">
                <a16:creationId xmlns:a16="http://schemas.microsoft.com/office/drawing/2014/main" id="{4E92B812-A19B-408D-903A-95A959CB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9057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40" name="flow-step-2">
            <a:extLst xmlns:a="http://schemas.openxmlformats.org/drawingml/2006/main">
              <a:ext uri="{FF2B5EF4-FFF2-40B4-BE49-F238E27FC236}">
                <a16:creationId xmlns:a16="http://schemas.microsoft.com/office/drawing/2014/main" id="{4E6B8482-2C41-4190-B328-CD2C2C2D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7734300"/>
            <a:ext cx="3152775" cy="6477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EDF5FE"/>
          </a:solidFill>
          <a:ln xmlns:a="http://schemas.openxmlformats.org/drawingml/2006/main" w="9525">
            <a:solidFill>
              <a:srgbClr val="CBDDF3"/>
            </a:solidFill>
            <a:prstDash val="solid"/>
          </a:ln>
        </p:spPr>
        <p:txBody>
          <a:bodyPr xmlns:a="http://schemas.openxmlformats.org/drawingml/2006/main" wrap="square" lIns="114300" tIns="57150" rIns="95250" bIns="571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Deduplicate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>
                <a:solidFill>
                  <a:srgbClr val="34424F"/>
                </a:solidFill>
                <a:latin typeface="Arial"/>
                <a:ea typeface="Arial"/>
                <a:cs typeface="Arial"/>
              </a:rPr>
              <a:t>Source names · SHA-256 · pHash ≤ 4</a:t>
            </a:r>
          </a:p>
        </p:txBody>
      </p:sp>
      <p:sp>
        <p:nvSpPr>
          <p:cNvPr id="3141" name="flow-marker-3">
            <a:extLst xmlns:a="http://schemas.openxmlformats.org/drawingml/2006/main">
              <a:ext uri="{FF2B5EF4-FFF2-40B4-BE49-F238E27FC236}">
                <a16:creationId xmlns:a16="http://schemas.microsoft.com/office/drawing/2014/main" id="{C4A44159-DE56-4711-A6EC-2A0BD65B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6106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B77"/>
          </a:solidFill>
          <a:ln xmlns:a="http://schemas.openxmlformats.org/drawingml/2006/main" w="0">
            <a:solidFill>
              <a:srgbClr val="009B77"/>
            </a:solidFill>
            <a:prstDash val="solid"/>
          </a:ln>
        </p:spPr>
      </p:sp>
      <p:sp>
        <p:nvSpPr>
          <p:cNvPr id="3142" name="flow-number-3">
            <a:extLst xmlns:a="http://schemas.openxmlformats.org/drawingml/2006/main">
              <a:ext uri="{FF2B5EF4-FFF2-40B4-BE49-F238E27FC236}">
                <a16:creationId xmlns:a16="http://schemas.microsoft.com/office/drawing/2014/main" id="{58EA3A30-1E03-4524-8152-786A25CD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86106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143" name="flow-step-3">
            <a:extLst xmlns:a="http://schemas.openxmlformats.org/drawingml/2006/main">
              <a:ext uri="{FF2B5EF4-FFF2-40B4-BE49-F238E27FC236}">
                <a16:creationId xmlns:a16="http://schemas.microsoft.com/office/drawing/2014/main" id="{4D9037C4-38A4-4A8F-8D98-707F3DB0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8439150"/>
            <a:ext cx="3152775" cy="6477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EAF6F3"/>
          </a:solidFill>
          <a:ln xmlns:a="http://schemas.openxmlformats.org/drawingml/2006/main" w="9525">
            <a:solidFill>
              <a:srgbClr val="B7DED5"/>
            </a:solidFill>
            <a:prstDash val="solid"/>
          </a:ln>
        </p:spPr>
        <p:txBody>
          <a:bodyPr xmlns:a="http://schemas.openxmlformats.org/drawingml/2006/main" wrap="square" lIns="114300" tIns="57150" rIns="95250" bIns="571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Freeze the clean split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>
                <a:solidFill>
                  <a:srgbClr val="34424F"/>
                </a:solidFill>
                <a:latin typeface="Arial"/>
                <a:ea typeface="Arial"/>
                <a:cs typeface="Arial"/>
              </a:rPr>
              <a:t>1,511 train · 188 val · 188 test</a:t>
            </a:r>
          </a:p>
        </p:txBody>
      </p:sp>
      <p:sp>
        <p:nvSpPr>
          <p:cNvPr id="3144" name="flow-marker-4">
            <a:extLst xmlns:a="http://schemas.openxmlformats.org/drawingml/2006/main">
              <a:ext uri="{FF2B5EF4-FFF2-40B4-BE49-F238E27FC236}">
                <a16:creationId xmlns:a16="http://schemas.microsoft.com/office/drawing/2014/main" id="{AC8CFBD2-71D2-458C-B38C-46FD91B2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9315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1F35"/>
          </a:solidFill>
          <a:ln xmlns:a="http://schemas.openxmlformats.org/drawingml/2006/main" w="0">
            <a:solidFill>
              <a:srgbClr val="8E1F35"/>
            </a:solidFill>
            <a:prstDash val="solid"/>
          </a:ln>
        </p:spPr>
      </p:sp>
      <p:sp>
        <p:nvSpPr>
          <p:cNvPr id="3145" name="flow-number-4">
            <a:extLst xmlns:a="http://schemas.openxmlformats.org/drawingml/2006/main">
              <a:ext uri="{FF2B5EF4-FFF2-40B4-BE49-F238E27FC236}">
                <a16:creationId xmlns:a16="http://schemas.microsoft.com/office/drawing/2014/main" id="{49ABB544-EE1A-4200-9D3F-F24476317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931545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146" name="flow-step-4">
            <a:extLst xmlns:a="http://schemas.openxmlformats.org/drawingml/2006/main">
              <a:ext uri="{FF2B5EF4-FFF2-40B4-BE49-F238E27FC236}">
                <a16:creationId xmlns:a16="http://schemas.microsoft.com/office/drawing/2014/main" id="{0E1BFC88-7BCF-4C51-B681-19AA1366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9144000"/>
            <a:ext cx="3152775" cy="6477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EDF5FE"/>
          </a:solidFill>
          <a:ln xmlns:a="http://schemas.openxmlformats.org/drawingml/2006/main" w="9525">
            <a:solidFill>
              <a:srgbClr val="CBDDF3"/>
            </a:solidFill>
            <a:prstDash val="solid"/>
          </a:ln>
        </p:spPr>
        <p:txBody>
          <a:bodyPr xmlns:a="http://schemas.openxmlformats.org/drawingml/2006/main" wrap="square" lIns="114300" tIns="57150" rIns="95250" bIns="571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Fine-tune YOLOv5s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>
                <a:solidFill>
                  <a:srgbClr val="34424F"/>
                </a:solidFill>
                <a:latin typeface="Arial"/>
                <a:ea typeface="Arial"/>
                <a:cs typeface="Arial"/>
              </a:rPr>
              <a:t>45 epochs · 640² · batch 8 · Apple MPS</a:t>
            </a:r>
          </a:p>
        </p:txBody>
      </p:sp>
      <p:sp>
        <p:nvSpPr>
          <p:cNvPr id="3147" name="flow-marker-5">
            <a:extLst xmlns:a="http://schemas.openxmlformats.org/drawingml/2006/main">
              <a:ext uri="{FF2B5EF4-FFF2-40B4-BE49-F238E27FC236}">
                <a16:creationId xmlns:a16="http://schemas.microsoft.com/office/drawing/2014/main" id="{6E798242-C352-4717-BA0B-6C9D7496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20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B77"/>
          </a:solidFill>
          <a:ln xmlns:a="http://schemas.openxmlformats.org/drawingml/2006/main" w="0">
            <a:solidFill>
              <a:srgbClr val="009B77"/>
            </a:solidFill>
            <a:prstDash val="solid"/>
          </a:ln>
        </p:spPr>
      </p:sp>
      <p:sp>
        <p:nvSpPr>
          <p:cNvPr id="3148" name="flow-number-5">
            <a:extLst xmlns:a="http://schemas.openxmlformats.org/drawingml/2006/main">
              <a:ext uri="{FF2B5EF4-FFF2-40B4-BE49-F238E27FC236}">
                <a16:creationId xmlns:a16="http://schemas.microsoft.com/office/drawing/2014/main" id="{632AE916-5394-4686-9EE5-384BCFA9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20300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149" name="flow-step-5">
            <a:extLst xmlns:a="http://schemas.openxmlformats.org/drawingml/2006/main">
              <a:ext uri="{FF2B5EF4-FFF2-40B4-BE49-F238E27FC236}">
                <a16:creationId xmlns:a16="http://schemas.microsoft.com/office/drawing/2014/main" id="{DE3CEE62-8DC5-4AAB-AF7A-16E483DB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9848850"/>
            <a:ext cx="3152775" cy="647700"/>
          </a:xfrm>
          <a:prstGeom xmlns:a="http://schemas.openxmlformats.org/drawingml/2006/main" prst="roundRect">
            <a:avLst>
              <a:gd name="adj" fmla="val 16176"/>
            </a:avLst>
          </a:prstGeom>
          <a:solidFill xmlns:a="http://schemas.openxmlformats.org/drawingml/2006/main">
            <a:srgbClr val="EAF6F3"/>
          </a:solidFill>
          <a:ln xmlns:a="http://schemas.openxmlformats.org/drawingml/2006/main" w="9525">
            <a:solidFill>
              <a:srgbClr val="B7DED5"/>
            </a:solidFill>
            <a:prstDash val="solid"/>
          </a:ln>
        </p:spPr>
        <p:txBody>
          <a:bodyPr xmlns:a="http://schemas.openxmlformats.org/drawingml/2006/main" wrap="square" lIns="114300" tIns="57150" rIns="95250" bIns="571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Independent evaluation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163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63">
                <a:solidFill>
                  <a:srgbClr val="34424F"/>
                </a:solidFill>
                <a:latin typeface="Arial"/>
                <a:ea typeface="Arial"/>
                <a:cs typeface="Arial"/>
              </a:rPr>
              <a:t>Both checkpoints · same 188-image test</a:t>
            </a:r>
          </a:p>
        </p:txBody>
      </p:sp>
      <p:sp>
        <p:nvSpPr>
          <p:cNvPr id="3150" name="training-setup-band">
            <a:extLst xmlns:a="http://schemas.openxmlformats.org/drawingml/2006/main">
              <a:ext uri="{FF2B5EF4-FFF2-40B4-BE49-F238E27FC236}">
                <a16:creationId xmlns:a16="http://schemas.microsoft.com/office/drawing/2014/main" id="{DF4B7FAE-D9C3-4CA3-B7C1-D0973A79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0668000"/>
            <a:ext cx="3581400" cy="1371600"/>
          </a:xfrm>
          <a:prstGeom xmlns:a="http://schemas.openxmlformats.org/drawingml/2006/main" prst="roundRect">
            <a:avLst>
              <a:gd name="adj" fmla="val 7639"/>
            </a:avLst>
          </a:prstGeom>
          <a:solidFill xmlns:a="http://schemas.openxmlformats.org/drawingml/2006/main">
            <a:srgbClr val="EAF6F3"/>
          </a:solidFill>
          <a:ln xmlns:a="http://schemas.openxmlformats.org/drawingml/2006/main" w="9525">
            <a:solidFill>
              <a:srgbClr val="B7DED5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02" b="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 b="1">
                <a:solidFill>
                  <a:srgbClr val="8E1F35"/>
                </a:solidFill>
                <a:latin typeface="Arial"/>
                <a:ea typeface="Arial"/>
                <a:cs typeface="Arial"/>
              </a:rPr>
              <a:t>LEAKAGE AUDIT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 b="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 b="0">
                <a:solidFill>
                  <a:srgbClr val="34424F"/>
                </a:solidFill>
                <a:latin typeface="Arial"/>
                <a:ea typeface="Arial"/>
                <a:cs typeface="Arial"/>
              </a:rPr>
              <a:t>1,887 cleaned image-label pairs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 b="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 b="0">
                <a:solidFill>
                  <a:srgbClr val="34424F"/>
                </a:solidFill>
                <a:latin typeface="Arial"/>
                <a:ea typeface="Arial"/>
                <a:cs typeface="Arial"/>
              </a:rPr>
              <a:t>Train 1,511 (276 bg)  |  Val 188 (34 bg)  |  Test 188 (34 bg)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 b="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0 source-name, exact SHA-256 or perceptual-hash overlaps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 b="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 b="0">
                <a:solidFill>
                  <a:srgbClr val="34424F"/>
                </a:solidFill>
                <a:latin typeface="Arial"/>
                <a:ea typeface="Arial"/>
                <a:cs typeface="Arial"/>
              </a:rPr>
              <a:t>Class 1 corrected: face-cigarette-smoking → flame</a:t>
            </a:r>
          </a:p>
        </p:txBody>
      </p:sp>
      <p:sp>
        <p:nvSpPr>
          <p:cNvPr id="3151" name="method-evaluation-label">
            <a:extLst xmlns:a="http://schemas.openxmlformats.org/drawingml/2006/main">
              <a:ext uri="{FF2B5EF4-FFF2-40B4-BE49-F238E27FC236}">
                <a16:creationId xmlns:a16="http://schemas.microsoft.com/office/drawing/2014/main" id="{B95D2028-D326-49B6-A2CD-743DFE14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72950"/>
            <a:ext cx="3543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63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1163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REPRODUCIBLE LOCAL TRAINING</a:t>
            </a:r>
          </a:p>
        </p:txBody>
      </p:sp>
      <p:sp>
        <p:nvSpPr>
          <p:cNvPr id="3152" name="method-evaluation-copy">
            <a:extLst xmlns:a="http://schemas.openxmlformats.org/drawingml/2006/main">
              <a:ext uri="{FF2B5EF4-FFF2-40B4-BE49-F238E27FC236}">
                <a16:creationId xmlns:a16="http://schemas.microsoft.com/office/drawing/2014/main" id="{8BD11EE2-DB63-415D-95B2-AB01DDAC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4396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28" b="0" i="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34424F"/>
                </a:solidFill>
                <a:latin typeface="Arial"/>
                <a:ea typeface="Arial"/>
                <a:cs typeface="Arial"/>
              </a:rPr>
              <a:t>YOLOv5s (7.02M params) | legacy best.pt init | all layers unfrozen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028" b="0" i="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34424F"/>
                </a:solidFill>
                <a:latin typeface="Arial"/>
                <a:ea typeface="Arial"/>
                <a:cs typeface="Arial"/>
              </a:rPr>
              <a:t>45 epochs | 640 × 640 | batch 8 | MPS | workers 2 | seed 0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028" b="0" i="0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34424F"/>
                </a:solidFill>
                <a:latin typeface="Arial"/>
                <a:ea typeface="Arial"/>
                <a:cs typeface="Arial"/>
              </a:rPr>
              <a:t>2 h 04 min | 0 swaps | max RSS 2.82 GB | 14 MB model</a:t>
            </a:r>
          </a:p>
        </p:txBody>
      </p:sp>
      <p:sp>
        <p:nvSpPr>
          <p:cNvPr id="3153" name="evidence-boundary-band">
            <a:extLst xmlns:a="http://schemas.openxmlformats.org/drawingml/2006/main">
              <a:ext uri="{FF2B5EF4-FFF2-40B4-BE49-F238E27FC236}">
                <a16:creationId xmlns:a16="http://schemas.microsoft.com/office/drawing/2014/main" id="{D5093714-5714-4ECF-90D5-F080EB3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449300"/>
            <a:ext cx="3581400" cy="3924300"/>
          </a:xfrm>
          <a:prstGeom xmlns:a="http://schemas.openxmlformats.org/drawingml/2006/main" prst="roundRect">
            <a:avLst>
              <a:gd name="adj" fmla="val 2926"/>
            </a:avLst>
          </a:prstGeom>
          <a:solidFill xmlns:a="http://schemas.openxmlformats.org/drawingml/2006/main">
            <a:srgbClr val="FFF7E8"/>
          </a:solidFill>
          <a:ln xmlns:a="http://schemas.openxmlformats.org/drawingml/2006/main" w="9525">
            <a:solidFill>
              <a:srgbClr val="EDC477"/>
            </a:solidFill>
            <a:prstDash val="solid"/>
          </a:ln>
        </p:spPr>
        <p:txBody>
          <a:bodyPr xmlns:a="http://schemas.openxmlformats.org/drawingml/2006/main" wrap="square" lIns="123825" tIns="104775" rIns="123825" bIns="85725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02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 b="1">
                <a:solidFill>
                  <a:srgbClr val="8E1F35"/>
                </a:solidFill>
                <a:latin typeface="Arial"/>
                <a:ea typeface="Arial"/>
                <a:cs typeface="Arial"/>
              </a:rPr>
              <a:t>ERRORS, LIMITATIONS &amp; </a:t>
            </a:r>
            <a:r>
              <a:rPr sz="1102" b="1">
                <a:solidFill>
                  <a:srgbClr val="8E1F35"/>
                </a:solidFill>
                <a:latin typeface="Arial"/>
                <a:ea typeface="Arial"/>
                <a:cs typeface="Arial"/>
              </a:rPr>
              <a:t>NEXT</a:t>
            </a:r>
            <a:r>
              <a:rPr sz="1102" b="1">
                <a:solidFill>
                  <a:srgbClr val="8E1F35"/>
                </a:solidFill>
                <a:latin typeface="Arial"/>
                <a:ea typeface="Arial"/>
                <a:cs typeface="Arial"/>
              </a:rPr>
              <a:t> STEPS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Cigarette recall 0.634: small targets and hand occlusion remain difficult.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Flame recall 0.740, but AP@0.5:0.95 0.360: localisation needs improvement.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Smoke leads in precision (0.919) and strict AP (0.595), but recall is 0.667.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One-image inference and batch timing are not deployment evidence.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>
                <a:solidFill>
                  <a:srgbClr val="1F242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>
                <a:solidFill>
                  <a:srgbClr val="1F2428"/>
                </a:solidFill>
                <a:latin typeface="Times New Roman"/>
                <a:ea typeface="Times New Roman"/>
                <a:cs typeface="Times New Roman"/>
              </a:rP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>
                <a:solidFill>
                  <a:srgbClr val="34424F"/>
                </a:solidFill>
                <a:latin typeface="Arial"/>
                <a:ea typeface="Arial"/>
                <a:cs typeface="Arial"/>
              </a:rPr>
              <a:t>NEXT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02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02">
                <a:solidFill>
                  <a:srgbClr val="34424F"/>
                </a:solidFill>
                <a:latin typeface="Arial"/>
                <a:ea typeface="Arial"/>
                <a:cs typeface="Arial"/>
              </a:rPr>
              <a:t>Add low-light, occlusion, fog and steam hard negatives; calibrate each class; test temporal consistency and unseen buildings; connect only verified alerts to the escape-route prototype.</a:t>
            </a:r>
          </a:p>
        </p:txBody>
      </p:sp>
      <p:sp>
        <p:nvSpPr>
          <p:cNvPr id="3154" name="prototype-warning">
            <a:extLst xmlns:a="http://schemas.openxmlformats.org/drawingml/2006/main">
              <a:ext uri="{FF2B5EF4-FFF2-40B4-BE49-F238E27FC236}">
                <a16:creationId xmlns:a16="http://schemas.microsoft.com/office/drawing/2014/main" id="{7F26AE5D-E53E-4FA8-BCDE-71891E323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838450"/>
            <a:ext cx="9715500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F8EFF2"/>
          </a:solidFill>
          <a:ln xmlns:a="http://schemas.openxmlformats.org/drawingml/2006/main" w="9525">
            <a:solidFill>
              <a:srgbClr val="DEC7D0"/>
            </a:solidFill>
            <a:prstDash val="solid"/>
          </a:ln>
        </p:spPr>
        <p:txBody>
          <a:bodyPr xmlns:a="http://schemas.openxmlformats.org/drawingml/2006/main" wrap="square" lIns="95250" tIns="38100" rIns="952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13" b="1" i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313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CLEAN EVALUATION CHANGED THE CONCLUSION</a:t>
            </a:r>
            <a:r>
              <a:rPr sz="1313" b="1" i="0">
                <a:solidFill>
                  <a:srgbClr val="17212B"/>
                </a:solidFill>
                <a:latin typeface="Arial"/>
                <a:ea typeface="Arial"/>
                <a:cs typeface="Arial"/>
              </a:rPr>
              <a:t>  |  legacy clean-test mAP@0.5 0.084  →  retrained 0.755</a:t>
            </a:r>
          </a:p>
        </p:txBody>
      </p:sp>
      <p:sp>
        <p:nvSpPr>
          <p:cNvPr id="3155" name="section-IV-Findings">
            <a:extLst xmlns:a="http://schemas.openxmlformats.org/drawingml/2006/main">
              <a:ext uri="{FF2B5EF4-FFF2-40B4-BE49-F238E27FC236}">
                <a16:creationId xmlns:a16="http://schemas.microsoft.com/office/drawing/2014/main" id="{2B2B541F-6E0D-4E80-B25D-FFA1A35E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05225"/>
            <a:ext cx="518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IV. Findings</a:t>
            </a:r>
          </a:p>
        </p:txBody>
      </p:sp>
      <p:sp>
        <p:nvSpPr>
          <p:cNvPr id="3156" name="section-rule-IV">
            <a:extLst xmlns:a="http://schemas.openxmlformats.org/drawingml/2006/main">
              <a:ext uri="{FF2B5EF4-FFF2-40B4-BE49-F238E27FC236}">
                <a16:creationId xmlns:a16="http://schemas.microsoft.com/office/drawing/2014/main" id="{1F115FC1-EF69-4A92-AB0E-AF3ED372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48125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9B77"/>
            </a:solidFill>
            <a:prstDash val="solid"/>
          </a:ln>
        </p:spPr>
      </p:sp>
      <p:sp>
        <p:nvSpPr>
          <p:cNvPr id="3157" name="metrics-strip">
            <a:extLst xmlns:a="http://schemas.openxmlformats.org/drawingml/2006/main">
              <a:ext uri="{FF2B5EF4-FFF2-40B4-BE49-F238E27FC236}">
                <a16:creationId xmlns:a16="http://schemas.microsoft.com/office/drawing/2014/main" id="{492E18FD-6CB4-459D-B377-A3C68215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143375"/>
            <a:ext cx="5181600" cy="876300"/>
          </a:xfrm>
          <a:prstGeom xmlns:a="http://schemas.openxmlformats.org/drawingml/2006/main" prst="roundRect">
            <a:avLst>
              <a:gd name="adj" fmla="val 1195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FE0D8"/>
            </a:solidFill>
            <a:prstDash val="solid"/>
          </a:ln>
        </p:spPr>
      </p:sp>
      <p:sp>
        <p:nvSpPr>
          <p:cNvPr id="3158" name="metric-Precision-value">
            <a:extLst xmlns:a="http://schemas.openxmlformats.org/drawingml/2006/main">
              <a:ext uri="{FF2B5EF4-FFF2-40B4-BE49-F238E27FC236}">
                <a16:creationId xmlns:a16="http://schemas.microsoft.com/office/drawing/2014/main" id="{28360BCA-462C-461D-A1D7-C1E17F38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76725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0.841</a:t>
            </a:r>
          </a:p>
        </p:txBody>
      </p:sp>
      <p:sp>
        <p:nvSpPr>
          <p:cNvPr id="3159" name="metric-Precision-label">
            <a:extLst xmlns:a="http://schemas.openxmlformats.org/drawingml/2006/main">
              <a:ext uri="{FF2B5EF4-FFF2-40B4-BE49-F238E27FC236}">
                <a16:creationId xmlns:a16="http://schemas.microsoft.com/office/drawing/2014/main" id="{9AAE006B-646A-4D3F-A05B-2555FA21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66725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3160" name="metric-Recall-value">
            <a:extLst xmlns:a="http://schemas.openxmlformats.org/drawingml/2006/main">
              <a:ext uri="{FF2B5EF4-FFF2-40B4-BE49-F238E27FC236}">
                <a16:creationId xmlns:a16="http://schemas.microsoft.com/office/drawing/2014/main" id="{76F00E1F-260C-44EC-A480-C3365D7F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76725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0.680</a:t>
            </a:r>
          </a:p>
        </p:txBody>
      </p:sp>
      <p:sp>
        <p:nvSpPr>
          <p:cNvPr id="3161" name="metric-Recall-label">
            <a:extLst xmlns:a="http://schemas.openxmlformats.org/drawingml/2006/main">
              <a:ext uri="{FF2B5EF4-FFF2-40B4-BE49-F238E27FC236}">
                <a16:creationId xmlns:a16="http://schemas.microsoft.com/office/drawing/2014/main" id="{36A5A5B5-443B-4B9F-9A1A-07565DBF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6725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3162" name="metric-mAP@0.5-value">
            <a:extLst xmlns:a="http://schemas.openxmlformats.org/drawingml/2006/main">
              <a:ext uri="{FF2B5EF4-FFF2-40B4-BE49-F238E27FC236}">
                <a16:creationId xmlns:a16="http://schemas.microsoft.com/office/drawing/2014/main" id="{D79C30FD-90D5-4485-97A8-29F51B25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76725"/>
            <a:ext cx="1276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0.755</a:t>
            </a:r>
          </a:p>
        </p:txBody>
      </p:sp>
      <p:sp>
        <p:nvSpPr>
          <p:cNvPr id="3163" name="metric-mAP@0.5-label">
            <a:extLst xmlns:a="http://schemas.openxmlformats.org/drawingml/2006/main">
              <a:ext uri="{FF2B5EF4-FFF2-40B4-BE49-F238E27FC236}">
                <a16:creationId xmlns:a16="http://schemas.microsoft.com/office/drawing/2014/main" id="{4ABDC610-02F5-4F3E-9589-786DDEB9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67250"/>
            <a:ext cx="1276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mAP@0.5</a:t>
            </a:r>
          </a:p>
        </p:txBody>
      </p:sp>
      <p:sp>
        <p:nvSpPr>
          <p:cNvPr id="3164" name="metric-mAP@0.5:0.95-value">
            <a:extLst xmlns:a="http://schemas.openxmlformats.org/drawingml/2006/main">
              <a:ext uri="{FF2B5EF4-FFF2-40B4-BE49-F238E27FC236}">
                <a16:creationId xmlns:a16="http://schemas.microsoft.com/office/drawing/2014/main" id="{804FFDE8-9B9E-4A08-BC19-0D1B1C06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76725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0.453</a:t>
            </a:r>
          </a:p>
        </p:txBody>
      </p:sp>
      <p:sp>
        <p:nvSpPr>
          <p:cNvPr id="3165" name="metric-mAP@0.5:0.95-label">
            <a:extLst xmlns:a="http://schemas.openxmlformats.org/drawingml/2006/main">
              <a:ext uri="{FF2B5EF4-FFF2-40B4-BE49-F238E27FC236}">
                <a16:creationId xmlns:a16="http://schemas.microsoft.com/office/drawing/2014/main" id="{F6C583BE-B7C1-44CE-8849-15CE01629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67250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mAP@0.5:0.95</a:t>
            </a:r>
          </a:p>
        </p:txBody>
      </p:sp>
      <p:sp>
        <p:nvSpPr>
          <p:cNvPr id="3166" name="pr-curve-backdrop">
            <a:extLst xmlns:a="http://schemas.openxmlformats.org/drawingml/2006/main">
              <a:ext uri="{FF2B5EF4-FFF2-40B4-BE49-F238E27FC236}">
                <a16:creationId xmlns:a16="http://schemas.microsoft.com/office/drawing/2014/main" id="{8AF8D68A-8C73-4039-8E50-BA014EA3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162550"/>
            <a:ext cx="5181600" cy="3314700"/>
          </a:xfrm>
          <a:prstGeom xmlns:a="http://schemas.openxmlformats.org/drawingml/2006/main" prst="roundRect">
            <a:avLst>
              <a:gd name="adj" fmla="val 25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6E0E4"/>
            </a:solidFill>
            <a:prstDash val="solid"/>
          </a:ln>
        </p:spPr>
      </p:sp>
      <p:pic>
        <p:nvPicPr>
          <p:cNvPr id="32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f9e95952bd478d"/>
          <a:stretch xmlns:a="http://schemas.openxmlformats.org/drawingml/2006/main"/>
        </p:blipFill>
        <p:spPr>
          <a:xfrm xmlns:a="http://schemas.openxmlformats.org/drawingml/2006/main">
            <a:off x="4736338" y="5238750"/>
            <a:ext cx="5043424" cy="2781300"/>
          </a:xfrm>
          <a:prstGeom xmlns:a="http://schemas.openxmlformats.org/drawingml/2006/main" prst="rect">
            <a:avLst/>
          </a:prstGeom>
        </p:spPr>
      </p:pic>
      <p:sp>
        <p:nvSpPr>
          <p:cNvPr id="3168" name="pr-caption">
            <a:extLst xmlns:a="http://schemas.openxmlformats.org/drawingml/2006/main">
              <a:ext uri="{FF2B5EF4-FFF2-40B4-BE49-F238E27FC236}">
                <a16:creationId xmlns:a16="http://schemas.microsoft.com/office/drawing/2014/main" id="{1E5D3016-BF7D-4C0C-AA75-A6F2DA3E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8058150"/>
            <a:ext cx="499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 i="1">
                <a:solidFill>
                  <a:srgbClr val="E58A1F"/>
                </a:solidFill>
                <a:latin typeface="Arial"/>
                <a:ea typeface="Arial"/>
                <a:cs typeface="Arial"/>
              </a:defRPr>
            </a:pPr>
            <a:r>
              <a:rPr sz="938" b="0" i="1">
                <a:solidFill>
                  <a:srgbClr val="E58A1F"/>
                </a:solidFill>
                <a:latin typeface="Arial"/>
                <a:ea typeface="Arial"/>
                <a:cs typeface="Arial"/>
              </a:rPr>
              <a:t>*Legacy validation is not directly comparable: it used an old split and old class definition. Clean-test bars use the same 188 images.</a:t>
            </a:r>
          </a:p>
        </p:txBody>
      </p:sp>
      <p:sp>
        <p:nvSpPr>
          <p:cNvPr id="3169" name="confusion-matrix-backdrop">
            <a:extLst xmlns:a="http://schemas.openxmlformats.org/drawingml/2006/main">
              <a:ext uri="{FF2B5EF4-FFF2-40B4-BE49-F238E27FC236}">
                <a16:creationId xmlns:a16="http://schemas.microsoft.com/office/drawing/2014/main" id="{5D9E9E64-B908-4526-94CE-D30047D8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0287000"/>
            <a:ext cx="5181600" cy="2819400"/>
          </a:xfrm>
          <a:prstGeom xmlns:a="http://schemas.openxmlformats.org/drawingml/2006/main" prst="roundRect">
            <a:avLst>
              <a:gd name="adj" fmla="val 30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0E4"/>
            </a:solidFill>
            <a:prstDash val="solid"/>
          </a:ln>
        </p:spPr>
        <p:txBody>
          <a:bodyPr xmlns:a="http://schemas.openxmlformats.org/drawingml/2006/main" wrap="square" lIns="0" tIns="66675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1088" b="1">
                <a:solidFill>
                  <a:srgbClr val="8E1F35"/>
                </a:solidFill>
                <a:latin typeface="Arial"/>
                <a:ea typeface="Arial"/>
                <a:cs typeface="Arial"/>
              </a:rPr>
              <a:t>TRAINING STABILITY - 45 EPOCHS</a:t>
            </a:r>
          </a:p>
        </p:txBody>
      </p:sp>
      <p:pic>
        <p:nvPicPr>
          <p:cNvPr id="32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cd6f06e7943e8"/>
          <a:stretch xmlns:a="http://schemas.openxmlformats.org/drawingml/2006/main"/>
        </p:blipFill>
        <p:spPr>
          <a:xfrm xmlns:a="http://schemas.openxmlformats.org/drawingml/2006/main">
            <a:off x="4838700" y="10572750"/>
            <a:ext cx="4838700" cy="2419350"/>
          </a:xfrm>
          <a:prstGeom xmlns:a="http://schemas.openxmlformats.org/drawingml/2006/main" prst="rect">
            <a:avLst/>
          </a:prstGeom>
        </p:spPr>
      </p:pic>
      <p:sp>
        <p:nvSpPr>
          <p:cNvPr id="3171" name="findings-takeaway">
            <a:extLst xmlns:a="http://schemas.openxmlformats.org/drawingml/2006/main">
              <a:ext uri="{FF2B5EF4-FFF2-40B4-BE49-F238E27FC236}">
                <a16:creationId xmlns:a16="http://schemas.microsoft.com/office/drawing/2014/main" id="{8CE54085-300D-4A38-BB03-866D7852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8620125"/>
            <a:ext cx="5181600" cy="1524000"/>
          </a:xfrm>
          <a:prstGeom xmlns:a="http://schemas.openxmlformats.org/drawingml/2006/main" prst="roundRect">
            <a:avLst>
              <a:gd name="adj" fmla="val 6875"/>
            </a:avLst>
          </a:prstGeom>
          <a:solidFill xmlns:a="http://schemas.openxmlformats.org/drawingml/2006/main">
            <a:srgbClr val="EDF5FE"/>
          </a:solidFill>
          <a:ln xmlns:a="http://schemas.openxmlformats.org/drawingml/2006/main" w="9525">
            <a:solidFill>
              <a:srgbClr val="CADDF3"/>
            </a:solidFill>
            <a:prstDash val="solid"/>
          </a:ln>
        </p:spPr>
        <p:txBody>
          <a:bodyPr xmlns:a="http://schemas.openxmlformats.org/drawingml/2006/main" wrap="square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65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8E1F35"/>
                </a:solidFill>
                <a:latin typeface="Arial"/>
                <a:ea typeface="Arial"/>
                <a:cs typeface="Arial"/>
              </a:rPr>
              <a:t>INDEPENDENT TEST BY CLASS</a:t>
            </a:r>
            <a:r>
              <a:rPr sz="1065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  |  188 images · 171 objects · 11.3 ms/image at batch 8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065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CIGARETTE  n=82  |  P .794  |  R .634  |  AP50 .717  |  AP50-95 .404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065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FLAME       n=50  |  P .812  |  R .740  |  AP50 .763  |  AP50-95 .360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065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SMOKE</a:t>
            </a:r>
            <a:r>
              <a:rPr sz="1065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       n=39  |  P .919  |  R .667  |  AP50 .786  |  AP50-95 .595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065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Overall improvement vs legacy clean test</a:t>
            </a:r>
            <a:r>
              <a:rPr sz="1065" b="1">
                <a:solidFill>
                  <a:srgbClr val="34424F"/>
                </a:solidFill>
                <a:latin typeface="Arial"/>
                <a:ea typeface="Arial"/>
                <a:cs typeface="Arial"/>
              </a:rPr>
              <a:t>:  +.380 P  |  +.575 R  |  +.671 AP50  |  +.421 AP50-95</a:t>
            </a:r>
          </a:p>
        </p:txBody>
      </p:sp>
      <p:sp>
        <p:nvSpPr>
          <p:cNvPr id="3172" name="section-V-Conclusion">
            <a:extLst xmlns:a="http://schemas.openxmlformats.org/drawingml/2006/main">
              <a:ext uri="{FF2B5EF4-FFF2-40B4-BE49-F238E27FC236}">
                <a16:creationId xmlns:a16="http://schemas.microsoft.com/office/drawing/2014/main" id="{4E323BCF-8560-40FA-8AEA-845E0343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3258800"/>
            <a:ext cx="518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V. Conclusion</a:t>
            </a:r>
          </a:p>
        </p:txBody>
      </p:sp>
      <p:sp>
        <p:nvSpPr>
          <p:cNvPr id="3173" name="section-rule-V">
            <a:extLst xmlns:a="http://schemas.openxmlformats.org/drawingml/2006/main">
              <a:ext uri="{FF2B5EF4-FFF2-40B4-BE49-F238E27FC236}">
                <a16:creationId xmlns:a16="http://schemas.microsoft.com/office/drawing/2014/main" id="{36C2F760-DB95-48A7-A221-522781BA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360170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9B77"/>
            </a:solidFill>
            <a:prstDash val="solid"/>
          </a:ln>
        </p:spPr>
      </p:sp>
      <p:sp>
        <p:nvSpPr>
          <p:cNvPr id="3174" name="conclusion-bullets">
            <a:extLst xmlns:a="http://schemas.openxmlformats.org/drawingml/2006/main">
              <a:ext uri="{FF2B5EF4-FFF2-40B4-BE49-F238E27FC236}">
                <a16:creationId xmlns:a16="http://schemas.microsoft.com/office/drawing/2014/main" id="{F4BAF675-C7E7-49F8-8650-D98EEB34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3696950"/>
            <a:ext cx="50673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7"/>
              </a:spcAft>
              <a:buNone/>
              <a:defRPr sz="1148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48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Leakage auditing changed the scientific conclusion: the legacy checkpoint fell from an apparent validation mAP@0.5 of 0.889 to 0.084 on the clean test.</a:t>
            </a:r>
          </a:p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7"/>
              </a:spcAft>
              <a:buNone/>
              <a:defRPr sz="1148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48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Retraining recovered mAP@0.5 to 0.755 and mAP@0.5:0.95 to 0.453 on a genuinely independent split.</a:t>
            </a:r>
          </a:p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7"/>
              </a:spcAft>
              <a:buNone/>
              <a:defRPr sz="1148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48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This equals 85% of the legacy artifact's headline AP50 while providing credible generalisation evidence.</a:t>
            </a:r>
          </a:p>
          <a:p xmlns:a="http://schemas.openxmlformats.org/drawingml/2006/main">
            <a:pPr marL="18" indent="-10" algn="l">
              <a:lnSpc>
                <a:spcPct val="110000"/>
              </a:lnSpc>
              <a:spcAft>
                <a:spcPts val="7"/>
              </a:spcAft>
              <a:buNone/>
              <a:defRPr sz="1148">
                <a:solidFill>
                  <a:srgbClr val="34424F"/>
                </a:solidFill>
                <a:latin typeface="Arial"/>
                <a:ea typeface="Arial"/>
                <a:cs typeface="Arial"/>
              </a:defRPr>
            </a:pPr>
            <a:r>
              <a:rPr sz="1148">
                <a:solidFill>
                  <a:srgbClr val="34424F"/>
                </a:solidFill>
                <a:latin typeface="Arial"/>
                <a:ea typeface="Arial"/>
                <a:cs typeface="Arial"/>
              </a:rPr>
              <a:t>• The detector is promising for human-verified alerts, but missed small/occluded targets and localisation error preclude safety-critical deployment.</a:t>
            </a:r>
          </a:p>
        </p:txBody>
      </p:sp>
      <p:sp>
        <p:nvSpPr>
          <p:cNvPr id="3175" name="section-VI-References">
            <a:extLst xmlns:a="http://schemas.openxmlformats.org/drawingml/2006/main">
              <a:ext uri="{FF2B5EF4-FFF2-40B4-BE49-F238E27FC236}">
                <a16:creationId xmlns:a16="http://schemas.microsoft.com/office/drawing/2014/main" id="{1697A5AD-680A-44F3-A7B6-2D2FB6F30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525750"/>
            <a:ext cx="518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8E1F35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8E1F35"/>
                </a:solidFill>
                <a:latin typeface="Arial"/>
                <a:ea typeface="Arial"/>
                <a:cs typeface="Arial"/>
              </a:rPr>
              <a:t>VI. References</a:t>
            </a:r>
          </a:p>
        </p:txBody>
      </p:sp>
      <p:sp>
        <p:nvSpPr>
          <p:cNvPr id="3176" name="section-rule-VI">
            <a:extLst xmlns:a="http://schemas.openxmlformats.org/drawingml/2006/main">
              <a:ext uri="{FF2B5EF4-FFF2-40B4-BE49-F238E27FC236}">
                <a16:creationId xmlns:a16="http://schemas.microsoft.com/office/drawing/2014/main" id="{92D8E987-6BEE-4DCE-8D33-C07E8B37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58686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9B77"/>
            </a:solidFill>
            <a:prstDash val="solid"/>
          </a:ln>
        </p:spPr>
      </p:sp>
      <p:sp>
        <p:nvSpPr>
          <p:cNvPr id="3177" name="references-copy">
            <a:extLst xmlns:a="http://schemas.openxmlformats.org/drawingml/2006/main">
              <a:ext uri="{FF2B5EF4-FFF2-40B4-BE49-F238E27FC236}">
                <a16:creationId xmlns:a16="http://schemas.microsoft.com/office/drawing/2014/main" id="{D4AABD3D-C4E6-4E96-AD16-092A761C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5963900"/>
            <a:ext cx="50673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28" b="0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[1] Jocher, G. et al. (2020). ultralytics/yolov5. Zenodo.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028" b="0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[2] URIS Progress Report P0053535 (2025).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028" b="0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[3] Leakage-safe dataset audit and 45-epoch clean experiment (11 Aug 2026).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028" b="0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[4] Independent clean-test evaluation: baseline_clean_test and full_clean_test.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028" b="0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[5] github.com/Llleeeo/Smoke-and-Fire-detection-model-and-implementation-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028" b="0" i="0">
                <a:solidFill>
                  <a:srgbClr val="65727D"/>
                </a:solidFill>
                <a:latin typeface="Arial"/>
                <a:ea typeface="Arial"/>
                <a:cs typeface="Arial"/>
              </a:defRPr>
            </a:pPr>
            <a:r>
              <a:rPr sz="1028" b="0" i="0">
                <a:solidFill>
                  <a:srgbClr val="65727D"/>
                </a:solidFill>
                <a:latin typeface="Arial"/>
                <a:ea typeface="Arial"/>
                <a:cs typeface="Arial"/>
              </a:rPr>
              <a:t>Results are independent-test values unless marked legacy val*.</a:t>
            </a:r>
          </a:p>
        </p:txBody>
      </p:sp>
    </p:spTree>
    <p:extLst>
      <p:ext uri="{BB962C8B-B14F-4D97-AF65-F5344CB8AC3E}">
        <p14:creationId xmlns:p14="http://schemas.microsoft.com/office/powerpoint/2010/main" val="325824664"/>
      </p:ext>
    </p:extLst>
  </p:cSld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Default Design 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2026-08-11T14:53:54.7820000Z</dcterms:created>
  <dcterms:modified xsi:type="dcterms:W3CDTF">2026-08-11T14:53:54.7820000Z</dcterms:modified>
</coreProperties>
</file>