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4341945d0b49e5" /><Relationship Type="http://schemas.openxmlformats.org/officeDocument/2006/relationships/extended-properties" Target="/docProps/app.xml" Id="R1271e28bafe74435" /><Relationship Type="http://schemas.openxmlformats.org/officeDocument/2006/relationships/officeDocument" Target="/ppt/presentation.xml" Id="R2e79fd64bf7f43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0aee5dc7544bef"/>
  </p:sldMasterIdLst>
  <p:notesMasterIdLst>
    <p:notesMasterId xmlns:r="http://schemas.openxmlformats.org/officeDocument/2006/relationships" r:id="Rd1d68ce358ca45c7"/>
  </p:notesMasterIdLst>
  <p:sldIdLst>
    <p:sldId xmlns:r="http://schemas.openxmlformats.org/officeDocument/2006/relationships" id="256" r:id="R6e328e578a674ad6"/>
  </p:sldIdLst>
  <p:sldSz cx="10287000" cy="1828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e2038e67af84229" /><Relationship Type="http://schemas.openxmlformats.org/officeDocument/2006/relationships/slideMaster" Target="/ppt/slideMasters/slideMaster1.xml" Id="Rfc0aee5dc7544bef" /><Relationship Type="http://schemas.openxmlformats.org/officeDocument/2006/relationships/notesMaster" Target="/ppt/notesMasters/notesMaster1.xml" Id="Rd1d68ce358ca45c7" /><Relationship Type="http://schemas.openxmlformats.org/officeDocument/2006/relationships/presProps" Target="/ppt/presProps.xml" Id="R0e4033e50b074c10" /><Relationship Type="http://schemas.openxmlformats.org/officeDocument/2006/relationships/viewProps" Target="/ppt/viewProps.xml" Id="R0f90914a52fe46d1" /><Relationship Type="http://schemas.openxmlformats.org/officeDocument/2006/relationships/tableStyles" Target="/ppt/tableStyles.xml" Id="Rfb013312aac144c0" /><Relationship Type="http://schemas.openxmlformats.org/officeDocument/2006/relationships/slide" Target="/ppt/slides/slide1.xml" Id="R6e328e578a674a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c01895b04c40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76b74838ba4e96" /><Relationship Type="http://schemas.openxmlformats.org/officeDocument/2006/relationships/notesMaster" Target="/ppt/notesMasters/notesMaster1.xml" Id="R49ec8d49f53543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GS CURI email, 13 Aug 2026: Department of Applied Physics (AP) retitled Department of Physics and Materials (PM); supervisor department updated accordingly.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dd43df50694a6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f7c0314c86498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87651464c44a8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094dd708a1472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d0f1b6870d4a2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b4a606e4e9412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eed729702549b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170acc1d2c4d0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048985dc9d445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e2236be1f4488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17548b230b4a86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B0E61E5-3690-4C30-905F-EC5FB13B306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71072" y="5681307"/>
            <a:ext cx="8744857" cy="392000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B57CAB2E-0C4D-49C0-BEB5-3DAAD3E1D77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43151" y="10362739"/>
            <a:ext cx="7200698" cy="467452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569B4BA-D12D-EADB-FF47-F652FEA004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8549845-A3CF-F34B-5890-452FC2DCE6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0D9147A-4738-581A-B338-BE7CC2A8F4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DA94C02C-6C6F-4672-BB47-81B34642F58D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B0437D9-3C28-458C-A004-4BE1CC89B3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0CBE8F6-0219-4668-AD14-EBE9BEFFBCC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B89E8EC-CF35-6471-A933-A052672760A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ED49CD6-786C-8B32-21C1-86CC92A7050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E9E7069-0566-A400-863E-851DC116F43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BB2995F8-FBBA-4B83-AF3D-A25A322E05D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AF68630-8E45-4AB7-9F99-A60AE5B5A8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397" y="11751964"/>
            <a:ext cx="8743850" cy="3632028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C5DF05B-53C3-4AC1-8D26-5A47156F9DF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12397" y="7751320"/>
            <a:ext cx="8743850" cy="4000644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F4E92A5-EE62-59B8-2016-C6C711AED3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F87A960-D44C-2460-FC6A-E1B4FBCB4A8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BFEE323-F3AA-BC90-1670-BBDA5D8F5B4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CAA65B32-23E6-4537-BA05-01145709B79C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EF6ACC8-8627-4C02-8B9C-4927C17180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421E3807-AD9F-4CD9-824E-D8A08A82E00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71072" y="5281588"/>
            <a:ext cx="4324048" cy="1097441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1A4A9A75-8AD4-4BF5-8E4D-38DFD52B62C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191881" y="5281588"/>
            <a:ext cx="4324048" cy="1097441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7D3DA07-CEFA-7F96-5E17-251C6670E4A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FA3160D-0D4C-7374-CC58-56C0386F91B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733CAA9-433C-C1C0-A31A-F1D5C30D416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6B250416-842C-4800-BEBE-B638DA2892A0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BD7D18F-9D34-4320-A9CF-212B82184A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048" y="732626"/>
            <a:ext cx="9258905" cy="30480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1CCBBEA0-AD2A-4B7F-B6D6-014A212C60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048" y="4093950"/>
            <a:ext cx="4545794" cy="1706005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87C1B647-6E02-4811-8246-64E5131AC3B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14048" y="5799955"/>
            <a:ext cx="4545794" cy="1053668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E8122728-A2BE-4D35-9D4D-4EE216D3A09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5226151" y="4093950"/>
            <a:ext cx="4546801" cy="1706005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943DB5ED-BF7B-4A83-9104-A7FD2E57C08A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5226151" y="5799955"/>
            <a:ext cx="4546801" cy="1053668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7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968AB9D-35D1-7A4D-37E0-00007510F7D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8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093F23C-16E8-9E79-73D7-E39C8DBF21B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9" name="Rectangle 6">
            <a:extLst xmlns:a="http://schemas.openxmlformats.org/drawingml/2006/main">
              <a:ext uri="{FF2B5EF4-FFF2-40B4-BE49-F238E27FC236}">
                <a16:creationId xmlns:a16="http://schemas.microsoft.com/office/drawing/2014/main" id="{9A553D68-D2EB-2B45-34F3-CD151617C6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2EB3A5B2-3AF0-4070-ACF6-40695206470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AE16641-C07D-48A3-9140-86B8A0DB9E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DDBCB88-66B4-87E4-9CEB-CD12529007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4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5375880-6E75-808F-BAC1-4C5F2B374DB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F918BCD-0F83-7CF0-5575-AEC7CFD68C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F38E4B8C-ADC2-4445-BDE1-625BA4D9AB81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BFB1556-0B09-FB41-0A50-8D1FE71D16E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3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9CA373B-9E57-A6CD-4254-5B36B34A1B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4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CA62610-B8D4-4DA8-4FD0-E5929DC32D4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DB32F88D-A614-4ABB-BAB5-B9A7514858E7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F85CC44-7B07-46E5-92C0-20A2914FCB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048" y="728018"/>
            <a:ext cx="3384651" cy="3098685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7048AF14-0D7C-41DD-9622-C92AADD4EFE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021667" y="728018"/>
            <a:ext cx="5751286" cy="1560861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250D3966-EB67-4FA7-947C-348622AF74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14048" y="3826703"/>
            <a:ext cx="3384651" cy="1250993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32C0D30-ED7F-AFE7-D54D-EF77ABFD29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1A63187-1EF6-2357-7E78-596DDC8CE6D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8C22164-1C45-8141-E80B-B343FD6909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950C17C0-1843-4F8D-9A29-2DA1BDE1906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A099263-4106-4C9D-9EE1-7E74D99931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15873" y="12801370"/>
            <a:ext cx="6172603" cy="1511329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D35F4407-8A90-4AD4-965E-6AFE32A2C15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2015873" y="1634586"/>
            <a:ext cx="6172603" cy="1097210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C18F59A-88D2-4397-934B-4BB6EC8F135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015873" y="14312699"/>
            <a:ext cx="6172603" cy="214604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5B7D213-F753-44BF-F67F-BD511ECAA31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54F8E63-1D77-B2C7-3CC8-268F0261107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0D2CF73-2FB2-6EFD-4F4C-0A8F8EEA2DB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81F93257-9A5D-4BC1-A02A-2E2B2B0F04FA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BD3F283-893A-48F1-AA3C-4FFB5AB1ED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BF72A245-3A50-410F-AC98-530EA1AF06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306A0B9-1B93-024F-4D9C-D7F873FA46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F99C9B3-68C4-906F-5EE3-006EB227F00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E961DC8-9EB4-6E92-EB72-B5957F83274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3795D2F8-0C8D-4DF0-8054-7D335D84CA10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B8BB7C3D-0C54-4BD6-B941-41FDAD559C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29714" y="1625370"/>
            <a:ext cx="2186215" cy="14630630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47ABC7C0-3F46-46B4-AC57-174A9AC734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71072" y="1625370"/>
            <a:ext cx="6461881" cy="14630630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0D6CF31-4110-8CA6-2B39-D04322C9FC9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FD15E5E-F31B-1FBE-A688-7E52FA362B8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D8F0A64-D37C-467E-B565-79061E6C04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7844C7E7-FB32-4B0D-AC29-FB8A08F11552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b243ecf0944600" /><Relationship Type="http://schemas.openxmlformats.org/officeDocument/2006/relationships/slideLayout" Target="/ppt/slideLayouts/slideLayout1.xml" Id="R93282cfe0b484d38" /><Relationship Type="http://schemas.openxmlformats.org/officeDocument/2006/relationships/slideLayout" Target="/ppt/slideLayouts/slideLayout2.xml" Id="Rd4b7479cc2454265" /><Relationship Type="http://schemas.openxmlformats.org/officeDocument/2006/relationships/slideLayout" Target="/ppt/slideLayouts/slideLayout3.xml" Id="Rd11d6c242c984f5d" /><Relationship Type="http://schemas.openxmlformats.org/officeDocument/2006/relationships/slideLayout" Target="/ppt/slideLayouts/slideLayout4.xml" Id="R3f6e14b2489c4213" /><Relationship Type="http://schemas.openxmlformats.org/officeDocument/2006/relationships/slideLayout" Target="/ppt/slideLayouts/slideLayout5.xml" Id="Racbcc32557fb4a40" /><Relationship Type="http://schemas.openxmlformats.org/officeDocument/2006/relationships/slideLayout" Target="/ppt/slideLayouts/slideLayout6.xml" Id="R6fba9ecbfb6a40bf" /><Relationship Type="http://schemas.openxmlformats.org/officeDocument/2006/relationships/slideLayout" Target="/ppt/slideLayouts/slideLayout7.xml" Id="R1aa11cbd7dbb4f95" /><Relationship Type="http://schemas.openxmlformats.org/officeDocument/2006/relationships/slideLayout" Target="/ppt/slideLayouts/slideLayout8.xml" Id="R518530ee14bb44f3" /><Relationship Type="http://schemas.openxmlformats.org/officeDocument/2006/relationships/slideLayout" Target="/ppt/slideLayouts/slideLayout9.xml" Id="Reb004cfdf9e24a98" /><Relationship Type="http://schemas.openxmlformats.org/officeDocument/2006/relationships/slideLayout" Target="/ppt/slideLayouts/slideLayout10.xml" Id="R9e866195c8d64607" /><Relationship Type="http://schemas.openxmlformats.org/officeDocument/2006/relationships/slideLayout" Target="/ppt/slideLayouts/slideLayout11.xml" Id="R5eb4f9e3218f4f23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12816E4-7208-88E6-94D8-107C671981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71072" y="1625370"/>
            <a:ext cx="8744857" cy="30491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222354" tIns="111176" rIns="222354" bIns="111176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title style</a:t>
            </a:r>
          </a:p>
        </p:txBody>
      </p:sp>
      <p:sp>
        <p:nvSpPr>
          <p:cNvPr id="1027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6457412-811A-8C1D-E0E6-17F7142622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71072" y="5281588"/>
            <a:ext cx="8744857" cy="10974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222354" tIns="111176" rIns="222354" bIns="111176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28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C80CE60-035C-3D07-2828-443D8DCE31D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771072" y="16662631"/>
            <a:ext cx="2143881" cy="12187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222354" tIns="111176" rIns="222354" bIns="111176" anchor="t"/>
          <a:lstStyle xmlns:a="http://schemas.openxmlformats.org/drawingml/2006/main">
            <a:lvl1pPr>
              <a:buNone/>
              <a:defRPr sz="3400"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029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6696D2A-107F-EB9A-90F1-F0B0CC16FF0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514675" y="16662631"/>
            <a:ext cx="3257651" cy="12187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222354" tIns="111176" rIns="222354" bIns="111176" anchor="t"/>
          <a:lstStyle xmlns:a="http://schemas.openxmlformats.org/drawingml/2006/main">
            <a:lvl1pPr algn="ctr">
              <a:buNone/>
              <a:defRPr sz="3400"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030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7978632-C41E-4450-538D-6B9C0A02508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7372048" y="16662631"/>
            <a:ext cx="2143881" cy="12187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222354" tIns="111176" rIns="222354" bIns="111176" anchor="t"/>
          <a:lstStyle xmlns:a="http://schemas.openxmlformats.org/drawingml/2006/main">
            <a:lvl1pPr algn="r">
              <a:buNone/>
              <a:defRPr sz="3400"/>
            </a:lvl1pPr>
          </a:lstStyle>
          <a:p xmlns:a="http://schemas.openxmlformats.org/drawingml/2006/main">
            <a:pPr>
              <a:buNone/>
            </a:pPr>
            <a:fld id="{AA27D613-0FDF-4AED-822C-DB9F6AEDE49E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282cfe0b484d38"/>
    <p:sldLayoutId xmlns:r="http://schemas.openxmlformats.org/officeDocument/2006/relationships" id="2147483650" r:id="Rd4b7479cc2454265"/>
    <p:sldLayoutId xmlns:r="http://schemas.openxmlformats.org/officeDocument/2006/relationships" id="2147483651" r:id="Rd11d6c242c984f5d"/>
    <p:sldLayoutId xmlns:r="http://schemas.openxmlformats.org/officeDocument/2006/relationships" id="2147483652" r:id="R3f6e14b2489c4213"/>
    <p:sldLayoutId xmlns:r="http://schemas.openxmlformats.org/officeDocument/2006/relationships" id="2147483653" r:id="Racbcc32557fb4a40"/>
    <p:sldLayoutId xmlns:r="http://schemas.openxmlformats.org/officeDocument/2006/relationships" id="2147483654" r:id="R6fba9ecbfb6a40bf"/>
    <p:sldLayoutId xmlns:r="http://schemas.openxmlformats.org/officeDocument/2006/relationships" id="2147483655" r:id="R1aa11cbd7dbb4f95"/>
    <p:sldLayoutId xmlns:r="http://schemas.openxmlformats.org/officeDocument/2006/relationships" id="2147483656" r:id="R518530ee14bb44f3"/>
    <p:sldLayoutId xmlns:r="http://schemas.openxmlformats.org/officeDocument/2006/relationships" id="2147483657" r:id="Reb004cfdf9e24a98"/>
    <p:sldLayoutId xmlns:r="http://schemas.openxmlformats.org/officeDocument/2006/relationships" id="2147483658" r:id="R9e866195c8d64607"/>
    <p:sldLayoutId xmlns:r="http://schemas.openxmlformats.org/officeDocument/2006/relationships" id="2147483659" r:id="R5eb4f9e3218f4f23"/>
  </p:sldLayoutIdLst>
  <p:txStyles>
    <p:titleStyle>
      <a:lvl1pPr xmlns:a="http://schemas.openxmlformats.org/drawingml/2006/main" algn="ctr" defTabSz="2224088">
        <a:spcBef>
          <a:spcPct val="0"/>
        </a:spcBef>
        <a:spcAft>
          <a:spcPct val="0"/>
        </a:spcAft>
        <a:buNone/>
        <a:defRPr sz="10700">
          <a:solidFill>
            <a:schemeClr val="tx2"/>
          </a:solidFill>
          <a:latin typeface="+mj-lt"/>
          <a:ea typeface="+mj-lt"/>
          <a:cs typeface="+mj-lt"/>
        </a:defRPr>
      </a:lvl1pPr>
      <a:lvl2pPr xmlns:a="http://schemas.openxmlformats.org/drawingml/2006/main" algn="ctr" defTabSz="2224088">
        <a:spcBef>
          <a:spcPct val="0"/>
        </a:spcBef>
        <a:spcAft>
          <a:spcPct val="0"/>
        </a:spcAft>
        <a:buNone/>
        <a:defRPr sz="10700">
          <a:solidFill>
            <a:schemeClr val="tx2"/>
          </a:solidFill>
          <a:latin typeface="Times New Roman"/>
          <a:ea typeface="Times New Roman"/>
          <a:cs typeface="Times New Roman"/>
        </a:defRPr>
      </a:lvl2pPr>
      <a:lvl3pPr xmlns:a="http://schemas.openxmlformats.org/drawingml/2006/main" algn="ctr" defTabSz="2224088">
        <a:spcBef>
          <a:spcPct val="0"/>
        </a:spcBef>
        <a:spcAft>
          <a:spcPct val="0"/>
        </a:spcAft>
        <a:buNone/>
        <a:defRPr sz="10700">
          <a:solidFill>
            <a:schemeClr val="tx2"/>
          </a:solidFill>
          <a:latin typeface="Times New Roman"/>
          <a:ea typeface="Times New Roman"/>
          <a:cs typeface="Times New Roman"/>
        </a:defRPr>
      </a:lvl3pPr>
      <a:lvl4pPr xmlns:a="http://schemas.openxmlformats.org/drawingml/2006/main" algn="ctr" defTabSz="2224088">
        <a:spcBef>
          <a:spcPct val="0"/>
        </a:spcBef>
        <a:spcAft>
          <a:spcPct val="0"/>
        </a:spcAft>
        <a:buNone/>
        <a:defRPr sz="10700">
          <a:solidFill>
            <a:schemeClr val="tx2"/>
          </a:solidFill>
          <a:latin typeface="Times New Roman"/>
          <a:ea typeface="Times New Roman"/>
          <a:cs typeface="Times New Roman"/>
        </a:defRPr>
      </a:lvl4pPr>
      <a:lvl5pPr xmlns:a="http://schemas.openxmlformats.org/drawingml/2006/main" algn="ctr" defTabSz="2224088">
        <a:spcBef>
          <a:spcPct val="0"/>
        </a:spcBef>
        <a:spcAft>
          <a:spcPct val="0"/>
        </a:spcAft>
        <a:buNone/>
        <a:defRPr sz="10700">
          <a:solidFill>
            <a:schemeClr val="tx2"/>
          </a:solidFill>
          <a:latin typeface="Times New Roman"/>
          <a:ea typeface="Times New Roman"/>
          <a:cs typeface="Times New Roman"/>
        </a:defRPr>
      </a:lvl5pPr>
      <a:lvl6pPr xmlns:a="http://schemas.openxmlformats.org/drawingml/2006/main" marL="457200" algn="ctr" defTabSz="2224088">
        <a:spcBef>
          <a:spcPct val="0"/>
        </a:spcBef>
        <a:spcAft>
          <a:spcPct val="0"/>
        </a:spcAft>
        <a:buNone/>
        <a:defRPr sz="10700">
          <a:solidFill>
            <a:schemeClr val="tx2"/>
          </a:solidFill>
          <a:latin typeface="Times New Roman"/>
          <a:ea typeface="Times New Roman"/>
          <a:cs typeface="Times New Roman"/>
        </a:defRPr>
      </a:lvl6pPr>
      <a:lvl7pPr xmlns:a="http://schemas.openxmlformats.org/drawingml/2006/main" marL="914400" algn="ctr" defTabSz="2224088">
        <a:spcBef>
          <a:spcPct val="0"/>
        </a:spcBef>
        <a:spcAft>
          <a:spcPct val="0"/>
        </a:spcAft>
        <a:buNone/>
        <a:defRPr sz="10700">
          <a:solidFill>
            <a:schemeClr val="tx2"/>
          </a:solidFill>
          <a:latin typeface="Times New Roman"/>
          <a:ea typeface="Times New Roman"/>
          <a:cs typeface="Times New Roman"/>
        </a:defRPr>
      </a:lvl7pPr>
      <a:lvl8pPr xmlns:a="http://schemas.openxmlformats.org/drawingml/2006/main" marL="1371600" algn="ctr" defTabSz="2224088">
        <a:spcBef>
          <a:spcPct val="0"/>
        </a:spcBef>
        <a:spcAft>
          <a:spcPct val="0"/>
        </a:spcAft>
        <a:buNone/>
        <a:defRPr sz="10700">
          <a:solidFill>
            <a:schemeClr val="tx2"/>
          </a:solidFill>
          <a:latin typeface="Times New Roman"/>
          <a:ea typeface="Times New Roman"/>
          <a:cs typeface="Times New Roman"/>
        </a:defRPr>
      </a:lvl8pPr>
      <a:lvl9pPr xmlns:a="http://schemas.openxmlformats.org/drawingml/2006/main" marL="1828800" algn="ctr" defTabSz="2224088">
        <a:spcBef>
          <a:spcPct val="0"/>
        </a:spcBef>
        <a:spcAft>
          <a:spcPct val="0"/>
        </a:spcAft>
        <a:buNone/>
        <a:defRPr sz="10700">
          <a:solidFill>
            <a:schemeClr val="tx2"/>
          </a:solidFill>
          <a:latin typeface="Times New Roman"/>
          <a:ea typeface="Times New Roman"/>
          <a:cs typeface="Times New Roman"/>
        </a:defRPr>
      </a:lvl9pPr>
    </p:titleStyle>
    <p:bodyStyle>
      <a:lvl1pPr xmlns:a="http://schemas.openxmlformats.org/drawingml/2006/main" marL="835025" indent="-835025" algn="l" defTabSz="2224088">
        <a:spcBef>
          <a:spcPct val="20000"/>
        </a:spcBef>
        <a:spcAft>
          <a:spcPct val="0"/>
        </a:spcAft>
        <a:buChar char="•"/>
        <a:defRPr sz="7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1806575" indent="-695325" algn="l" defTabSz="2224088">
        <a:spcBef>
          <a:spcPct val="20000"/>
        </a:spcBef>
        <a:spcAft>
          <a:spcPct val="0"/>
        </a:spcAft>
        <a:buChar char="–"/>
        <a:defRPr sz="6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2779713" indent="-555625" algn="l" defTabSz="2224088">
        <a:spcBef>
          <a:spcPct val="20000"/>
        </a:spcBef>
        <a:spcAft>
          <a:spcPct val="0"/>
        </a:spcAft>
        <a:buChar char="•"/>
        <a:defRPr sz="59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3892550" indent="-557213" algn="l" defTabSz="2224088">
        <a:spcBef>
          <a:spcPct val="20000"/>
        </a:spcBef>
        <a:spcAft>
          <a:spcPct val="0"/>
        </a:spcAft>
        <a:buChar char="–"/>
        <a:defRPr sz="49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5003800" indent="-557213" algn="l" defTabSz="2224088">
        <a:spcBef>
          <a:spcPct val="20000"/>
        </a:spcBef>
        <a:spcAft>
          <a:spcPct val="0"/>
        </a:spcAft>
        <a:buChar char="»"/>
        <a:defRPr sz="49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5461000" indent="-557213" algn="l" defTabSz="2224088">
        <a:spcBef>
          <a:spcPct val="20000"/>
        </a:spcBef>
        <a:spcAft>
          <a:spcPct val="0"/>
        </a:spcAft>
        <a:buChar char="»"/>
        <a:defRPr sz="49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5918200" indent="-557213" algn="l" defTabSz="2224088">
        <a:spcBef>
          <a:spcPct val="20000"/>
        </a:spcBef>
        <a:spcAft>
          <a:spcPct val="0"/>
        </a:spcAft>
        <a:buChar char="»"/>
        <a:defRPr sz="49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6375400" indent="-557213" algn="l" defTabSz="2224088">
        <a:spcBef>
          <a:spcPct val="20000"/>
        </a:spcBef>
        <a:spcAft>
          <a:spcPct val="0"/>
        </a:spcAft>
        <a:buChar char="»"/>
        <a:defRPr sz="49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6832600" indent="-557213" algn="l" defTabSz="2224088">
        <a:spcBef>
          <a:spcPct val="20000"/>
        </a:spcBef>
        <a:spcAft>
          <a:spcPct val="0"/>
        </a:spcAft>
        <a:buChar char="»"/>
        <a:defRPr sz="49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2a4f91390a584c82" /><Relationship Type="http://schemas.openxmlformats.org/officeDocument/2006/relationships/image" Target="/ppt/media/image.png" Id="Ra94a232882174671" /><Relationship Type="http://schemas.openxmlformats.org/officeDocument/2006/relationships/image" Target="/ppt/media/image2.png" Id="R3c09a9759e7840d7" /><Relationship Type="http://schemas.openxmlformats.org/officeDocument/2006/relationships/image" Target="/ppt/media/image3.png" Id="Rf5ed07303ac64b08" /><Relationship Type="http://schemas.openxmlformats.org/officeDocument/2006/relationships/image" Target="/ppt/media/image4.png" Id="R35bd336732564b31" /><Relationship Type="http://schemas.openxmlformats.org/officeDocument/2006/relationships/image" Target="/ppt/media/image5.png" Id="R880bcb4fbc724c37" /><Relationship Type="http://schemas.openxmlformats.org/officeDocument/2006/relationships/notesSlide" Target="/ppt/notesSlides/notesSlide1.xml" Id="R24162a99791140a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75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4C08971-6CE7-5753-907E-0EA7C7AD81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6700" y="1009650"/>
            <a:ext cx="9753600" cy="876300"/>
          </a:xfrm>
        </p:spPr>
        <p:txBody>
          <a:bodyPr xmlns:a="http://schemas.openxmlformats.org/drawingml/2006/main" wrap="square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2550" b="1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rPr>
              <a:t>Computer Vision Based Fire-Prone Objects Detection Device</a:t>
            </a:r>
            <a:endParaRPr sz="3000" b="1">
              <a:solidFill>
                <a:schemeClr val="tx1"/>
              </a:solidFill>
            </a:endParaRPr>
          </a:p>
          <a:p xmlns:a="http://schemas.openxmlformats.org/drawingml/2006/main">
            <a:pPr algn="ctr">
              <a:lnSpc>
                <a:spcPct val="94000"/>
              </a:lnSpc>
              <a:buNone/>
              <a:defRPr sz="2550" b="1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rPr>
              <a:t>and Real-Time Escape Route Planning System</a:t>
            </a:r>
            <a:endParaRPr sz="3000" b="1">
              <a:solidFill>
                <a:schemeClr val="tx1"/>
              </a:solidFill>
            </a:endParaRPr>
          </a:p>
        </p:txBody>
      </p:sp>
      <p:sp>
        <p:nvSpPr>
          <p:cNvPr id="3097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41DA208-76CB-DAE3-22BC-029970D4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895475"/>
            <a:ext cx="9601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9525" rIns="57150" bIns="9525" anchor="ctr">
            <a:noAutofit/>
          </a:bodyPr>
          <a:lstStyle xmlns:a="http://schemas.openxmlformats.org/drawingml/2006/main">
            <a:lvl1pPr defTabSz="2224088">
              <a:spcBef>
                <a:spcPct val="20000"/>
              </a:spcBef>
              <a:buChar char="•"/>
              <a:defRPr sz="78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1pPr>
            <a:lvl2pPr marL="742950" indent="-285750" defTabSz="2224088">
              <a:spcBef>
                <a:spcPct val="20000"/>
              </a:spcBef>
              <a:buChar char="–"/>
              <a:defRPr sz="68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2pPr>
            <a:lvl3pPr marL="1143000" indent="-228600" defTabSz="2224088">
              <a:spcBef>
                <a:spcPct val="20000"/>
              </a:spcBef>
              <a:buChar char="•"/>
              <a:defRPr sz="59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3pPr>
            <a:lvl4pPr marL="1600200" indent="-228600" defTabSz="2224088">
              <a:spcBef>
                <a:spcPct val="20000"/>
              </a:spcBef>
              <a:buChar char="–"/>
              <a:defRPr sz="49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4pPr>
            <a:lvl5pPr marL="2057400" indent="-228600" defTabSz="2224088">
              <a:spcBef>
                <a:spcPct val="20000"/>
              </a:spcBef>
              <a:buChar char="»"/>
              <a:defRPr sz="49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5pPr>
            <a:lvl6pPr marL="2514600" indent="-228600" defTabSz="2224088">
              <a:spcBef>
                <a:spcPct val="20000"/>
              </a:spcBef>
              <a:spcAft>
                <a:spcPct val="0"/>
              </a:spcAft>
              <a:buChar char="»"/>
              <a:defRPr sz="49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6pPr>
            <a:lvl7pPr marL="2971800" indent="-228600" defTabSz="2224088">
              <a:spcBef>
                <a:spcPct val="20000"/>
              </a:spcBef>
              <a:spcAft>
                <a:spcPct val="0"/>
              </a:spcAft>
              <a:buChar char="»"/>
              <a:defRPr sz="49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7pPr>
            <a:lvl8pPr marL="3429000" indent="-228600" defTabSz="2224088">
              <a:spcBef>
                <a:spcPct val="20000"/>
              </a:spcBef>
              <a:spcAft>
                <a:spcPct val="0"/>
              </a:spcAft>
              <a:buChar char="»"/>
              <a:defRPr sz="49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8pPr>
            <a:lvl9pPr marL="3886200" indent="-228600" defTabSz="2224088">
              <a:spcBef>
                <a:spcPct val="20000"/>
              </a:spcBef>
              <a:spcAft>
                <a:spcPct val="0"/>
              </a:spcAft>
              <a:buChar char="»"/>
              <a:defRPr sz="49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4000"/>
              </a:lnSpc>
              <a:spcBef>
                <a:spcPct val="0"/>
              </a:spcBef>
              <a:buFontTx/>
              <a:buNone/>
              <a:defRPr sz="1350" b="1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rPr>
              <a:t>Student: YUAN Haoming | Department: DSAI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ct val="0"/>
              </a:spcBef>
              <a:buFontTx/>
              <a:buNone/>
              <a:defRPr sz="1350" b="1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rPr>
              <a:t>Chief Supervisor: TSANG Yuen Hong | Department: PM | URIS P0053535 | TAG3</a:t>
            </a:r>
            <a:endParaRPr sz="2200" b="1"/>
          </a:p>
        </p:txBody>
      </p:sp>
      <p:sp>
        <p:nvSpPr>
          <p:cNvPr id="3099" name="Text Box 378">
            <a:extLst xmlns:a="http://schemas.openxmlformats.org/drawingml/2006/main">
              <a:ext uri="{FF2B5EF4-FFF2-40B4-BE49-F238E27FC236}">
                <a16:creationId xmlns:a16="http://schemas.microsoft.com/office/drawing/2014/main" id="{C8CA18BD-D030-ACFE-4350-137763A5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7546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defTabSz="460375">
              <a:buNone/>
              <a:defRPr sz="75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1pPr>
            <a:lvl2pPr marL="742950" indent="-285750" defTabSz="460375">
              <a:buNone/>
              <a:defRPr sz="75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2pPr>
            <a:lvl3pPr marL="1143000" indent="-228600" defTabSz="460375">
              <a:buNone/>
              <a:defRPr sz="75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3pPr>
            <a:lvl4pPr marL="1600200" indent="-228600" defTabSz="460375">
              <a:buNone/>
              <a:defRPr sz="75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4pPr>
            <a:lvl5pPr marL="2057400" indent="-228600" defTabSz="460375">
              <a:buNone/>
              <a:defRPr sz="75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5pPr>
            <a:lvl6pPr marL="2514600" indent="-228600" defTabSz="460375">
              <a:spcBef>
                <a:spcPct val="0"/>
              </a:spcBef>
              <a:spcAft>
                <a:spcPct val="0"/>
              </a:spcAft>
              <a:buNone/>
              <a:defRPr sz="75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6pPr>
            <a:lvl7pPr marL="2971800" indent="-228600" defTabSz="460375">
              <a:spcBef>
                <a:spcPct val="0"/>
              </a:spcBef>
              <a:spcAft>
                <a:spcPct val="0"/>
              </a:spcAft>
              <a:buNone/>
              <a:defRPr sz="75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7pPr>
            <a:lvl8pPr marL="3429000" indent="-228600" defTabSz="460375">
              <a:spcBef>
                <a:spcPct val="0"/>
              </a:spcBef>
              <a:spcAft>
                <a:spcPct val="0"/>
              </a:spcAft>
              <a:buNone/>
              <a:defRPr sz="75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8pPr>
            <a:lvl9pPr marL="3886200" indent="-228600" defTabSz="460375">
              <a:spcBef>
                <a:spcPct val="0"/>
              </a:spcBef>
              <a:spcAft>
                <a:spcPct val="0"/>
              </a:spcAft>
              <a:buNone/>
              <a:defRPr sz="75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ct val="50000"/>
              </a:spcBef>
              <a:buNone/>
              <a:defRPr sz="1125" b="1">
                <a:solidFill>
                  <a:srgbClr val="6572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65727D"/>
                </a:solidFill>
                <a:latin typeface="Times New Roman"/>
                <a:ea typeface="Times New Roman"/>
                <a:cs typeface="Times New Roman"/>
              </a:rPr>
              <a:t>23099168D@connect.polyu.hk  |  Research prototype — complements, not replaces, certified fire-safety systems</a:t>
            </a:r>
            <a:endParaRPr sz="1600"/>
          </a:p>
        </p:txBody>
      </p:sp>
      <p:sp>
        <p:nvSpPr>
          <p:cNvPr id="3112" name="Rectangle 7548">
            <a:extLst xmlns:a="http://schemas.openxmlformats.org/drawingml/2006/main">
              <a:ext uri="{FF2B5EF4-FFF2-40B4-BE49-F238E27FC236}">
                <a16:creationId xmlns:a16="http://schemas.microsoft.com/office/drawing/2014/main" id="{16B2E2EF-09B5-3F37-1E7C-C1D824BC3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209925"/>
            <a:ext cx="3143250" cy="14354175"/>
          </a:xfrm>
          <a:prstGeom xmlns:a="http://schemas.openxmlformats.org/drawingml/2006/main" prst="roundRect">
            <a:avLst>
              <a:gd name="adj" fmla="val 4242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6E0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 sz="75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1pPr>
            <a:lvl2pPr marL="742950" indent="-285750">
              <a:buNone/>
              <a:defRPr sz="75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2pPr>
            <a:lvl3pPr marL="1143000" indent="-228600">
              <a:buNone/>
              <a:defRPr sz="75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3pPr>
            <a:lvl4pPr marL="1600200" indent="-228600">
              <a:buNone/>
              <a:defRPr sz="75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4pPr>
            <a:lvl5pPr marL="2057400" indent="-228600">
              <a:buNone/>
              <a:defRPr sz="75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75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75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75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75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114" name="Rectangle 7550">
            <a:extLst xmlns:a="http://schemas.openxmlformats.org/drawingml/2006/main">
              <a:ext uri="{FF2B5EF4-FFF2-40B4-BE49-F238E27FC236}">
                <a16:creationId xmlns:a16="http://schemas.microsoft.com/office/drawing/2014/main" id="{2C625523-2568-E594-449C-36C0989D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209925"/>
            <a:ext cx="6667500" cy="14354175"/>
          </a:xfrm>
          <a:prstGeom xmlns:a="http://schemas.openxmlformats.org/drawingml/2006/main" prst="roundRect">
            <a:avLst>
              <a:gd name="adj" fmla="val 2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6E0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 sz="75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1pPr>
            <a:lvl2pPr marL="742950" indent="-285750">
              <a:buNone/>
              <a:defRPr sz="75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2pPr>
            <a:lvl3pPr marL="1143000" indent="-228600">
              <a:buNone/>
              <a:defRPr sz="75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3pPr>
            <a:lvl4pPr marL="1600200" indent="-228600">
              <a:buNone/>
              <a:defRPr sz="75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4pPr>
            <a:lvl5pPr marL="2057400" indent="-228600">
              <a:buNone/>
              <a:defRPr sz="75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75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75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75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75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endParaRPr/>
          </a:p>
        </p:txBody>
      </p:sp>
      <p:pic>
        <p:nvPicPr>
          <p:cNvPr id="3188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4a2328821746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4303" y="379764"/>
            <a:ext cx="3275956" cy="627332"/>
          </a:xfrm>
          <a:prstGeom xmlns:a="http://schemas.openxmlformats.org/drawingml/2006/main" prst="rect">
            <a:avLst/>
          </a:prstGeom>
        </p:spPr>
      </p:pic>
      <p:pic>
        <p:nvPicPr>
          <p:cNvPr id="3189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09a9759e7840d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30692" y="300245"/>
            <a:ext cx="2152968" cy="634843"/>
          </a:xfrm>
          <a:prstGeom xmlns:a="http://schemas.openxmlformats.org/drawingml/2006/main" prst="rect">
            <a:avLst/>
          </a:prstGeom>
        </p:spPr>
      </p:pic>
      <p:pic>
        <p:nvPicPr>
          <p:cNvPr id="3190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ed07303ac64b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56747" y="345287"/>
            <a:ext cx="3097530" cy="656985"/>
          </a:xfrm>
          <a:prstGeom xmlns:a="http://schemas.openxmlformats.org/drawingml/2006/main" prst="rect">
            <a:avLst/>
          </a:prstGeom>
        </p:spPr>
      </p:pic>
      <p:sp>
        <p:nvSpPr>
          <p:cNvPr id="3126" name="section-I-Introduction">
            <a:extLst xmlns:a="http://schemas.openxmlformats.org/drawingml/2006/main">
              <a:ext uri="{FF2B5EF4-FFF2-40B4-BE49-F238E27FC236}">
                <a16:creationId xmlns:a16="http://schemas.microsoft.com/office/drawing/2014/main" id="{8A357269-16BE-417F-BD98-0FFB9228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31470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30" b="1" i="0">
                <a:solidFill>
                  <a:srgbClr val="8E1F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30" b="1" i="0">
                <a:solidFill>
                  <a:srgbClr val="8E1F35"/>
                </a:solidFill>
                <a:latin typeface="Times New Roman"/>
                <a:ea typeface="Times New Roman"/>
                <a:cs typeface="Times New Roman"/>
              </a:rPr>
              <a:t>I. Introduction</a:t>
            </a:r>
          </a:p>
        </p:txBody>
      </p:sp>
      <p:sp>
        <p:nvSpPr>
          <p:cNvPr id="3127" name="section-rule-I">
            <a:extLst xmlns:a="http://schemas.openxmlformats.org/drawingml/2006/main">
              <a:ext uri="{FF2B5EF4-FFF2-40B4-BE49-F238E27FC236}">
                <a16:creationId xmlns:a16="http://schemas.microsoft.com/office/drawing/2014/main" id="{DB1A7123-48ED-4D46-9D94-507B2C41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657600"/>
            <a:ext cx="2800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9B77"/>
            </a:solidFill>
            <a:prstDash val="solid"/>
          </a:ln>
        </p:spPr>
      </p:sp>
      <p:sp>
        <p:nvSpPr>
          <p:cNvPr id="3128" name="introduction-bullets">
            <a:extLst xmlns:a="http://schemas.openxmlformats.org/drawingml/2006/main">
              <a:ext uri="{FF2B5EF4-FFF2-40B4-BE49-F238E27FC236}">
                <a16:creationId xmlns:a16="http://schemas.microsoft.com/office/drawing/2014/main" id="{5C681829-0E25-490F-81C4-4A1AA27E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714750"/>
            <a:ext cx="2800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marL="18" indent="-10" algn="l">
              <a:lnSpc>
                <a:spcPct val="110000"/>
              </a:lnSpc>
              <a:spcAft>
                <a:spcPts val="6"/>
              </a:spcAft>
              <a:buNone/>
              <a:defRPr sz="1200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rPr>
              <a:t>Discarded cigarettes, early flame and delayed smoke can precede serious fires. AI Fireguard tests a compact detector for human-verified alerts and response planning.</a:t>
            </a:r>
          </a:p>
        </p:txBody>
      </p:sp>
      <p:sp>
        <p:nvSpPr>
          <p:cNvPr id="3129" name="section-II-Objectives">
            <a:extLst xmlns:a="http://schemas.openxmlformats.org/drawingml/2006/main">
              <a:ext uri="{FF2B5EF4-FFF2-40B4-BE49-F238E27FC236}">
                <a16:creationId xmlns:a16="http://schemas.microsoft.com/office/drawing/2014/main" id="{2BE15148-F748-444D-A795-99B813352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9105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30" b="1" i="0">
                <a:solidFill>
                  <a:srgbClr val="8E1F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30" b="1" i="0">
                <a:solidFill>
                  <a:srgbClr val="8E1F35"/>
                </a:solidFill>
                <a:latin typeface="Times New Roman"/>
                <a:ea typeface="Times New Roman"/>
                <a:cs typeface="Times New Roman"/>
              </a:rPr>
              <a:t>II. Objectives</a:t>
            </a:r>
          </a:p>
        </p:txBody>
      </p:sp>
      <p:sp>
        <p:nvSpPr>
          <p:cNvPr id="3130" name="section-rule-II">
            <a:extLst xmlns:a="http://schemas.openxmlformats.org/drawingml/2006/main">
              <a:ext uri="{FF2B5EF4-FFF2-40B4-BE49-F238E27FC236}">
                <a16:creationId xmlns:a16="http://schemas.microsoft.com/office/drawing/2014/main" id="{663FF687-5FE9-473C-9504-466470E1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933950"/>
            <a:ext cx="2800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9B77"/>
            </a:solidFill>
            <a:prstDash val="solid"/>
          </a:ln>
        </p:spPr>
      </p:sp>
      <p:sp>
        <p:nvSpPr>
          <p:cNvPr id="3131" name="objectives-bullets">
            <a:extLst xmlns:a="http://schemas.openxmlformats.org/drawingml/2006/main">
              <a:ext uri="{FF2B5EF4-FFF2-40B4-BE49-F238E27FC236}">
                <a16:creationId xmlns:a16="http://schemas.microsoft.com/office/drawing/2014/main" id="{CB5C85F6-9558-4C43-990C-921DA9A7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991100"/>
            <a:ext cx="28003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marL="18" indent="-10" algn="l">
              <a:lnSpc>
                <a:spcPct val="110000"/>
              </a:lnSpc>
              <a:spcAft>
                <a:spcPts val="8"/>
              </a:spcAft>
              <a:buNone/>
              <a:defRPr sz="1185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85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rPr>
              <a:t>• Build clean three-class YOLOv5.</a:t>
            </a:r>
          </a:p>
          <a:p xmlns:a="http://schemas.openxmlformats.org/drawingml/2006/main">
            <a:pPr marL="18" indent="-10" algn="l">
              <a:lnSpc>
                <a:spcPct val="110000"/>
              </a:lnSpc>
              <a:spcAft>
                <a:spcPts val="8"/>
              </a:spcAft>
              <a:buNone/>
              <a:defRPr sz="1185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85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rPr>
              <a:t>• Remove leakage and label mismatch.</a:t>
            </a:r>
          </a:p>
          <a:p xmlns:a="http://schemas.openxmlformats.org/drawingml/2006/main">
            <a:pPr marL="18" indent="-10" algn="l">
              <a:lnSpc>
                <a:spcPct val="110000"/>
              </a:lnSpc>
              <a:spcAft>
                <a:spcPts val="8"/>
              </a:spcAft>
              <a:buNone/>
              <a:defRPr sz="1185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85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rPr>
              <a:t>• Compare checkpoints on one frozen test.</a:t>
            </a:r>
          </a:p>
          <a:p xmlns:a="http://schemas.openxmlformats.org/drawingml/2006/main">
            <a:pPr marL="18" indent="-10" algn="l">
              <a:lnSpc>
                <a:spcPct val="110000"/>
              </a:lnSpc>
              <a:spcAft>
                <a:spcPts val="8"/>
              </a:spcAft>
              <a:buNone/>
              <a:defRPr sz="1185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85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rPr>
              <a:t>• Measure errors, speed, compute and pre-deployment evidence.</a:t>
            </a:r>
          </a:p>
        </p:txBody>
      </p:sp>
      <p:sp>
        <p:nvSpPr>
          <p:cNvPr id="3132" name="section-III-Methodology">
            <a:extLst xmlns:a="http://schemas.openxmlformats.org/drawingml/2006/main">
              <a:ext uri="{FF2B5EF4-FFF2-40B4-BE49-F238E27FC236}">
                <a16:creationId xmlns:a16="http://schemas.microsoft.com/office/drawing/2014/main" id="{A2F041EA-09F1-4ABB-8E02-D4245A51E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67425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30" b="1" i="0">
                <a:solidFill>
                  <a:srgbClr val="8E1F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30" b="1" i="0">
                <a:solidFill>
                  <a:srgbClr val="8E1F35"/>
                </a:solidFill>
                <a:latin typeface="Times New Roman"/>
                <a:ea typeface="Times New Roman"/>
                <a:cs typeface="Times New Roman"/>
              </a:rPr>
              <a:t>III. Methodology</a:t>
            </a:r>
          </a:p>
        </p:txBody>
      </p:sp>
      <p:sp>
        <p:nvSpPr>
          <p:cNvPr id="3133" name="section-rule-III">
            <a:extLst xmlns:a="http://schemas.openxmlformats.org/drawingml/2006/main">
              <a:ext uri="{FF2B5EF4-FFF2-40B4-BE49-F238E27FC236}">
                <a16:creationId xmlns:a16="http://schemas.microsoft.com/office/drawing/2014/main" id="{349D510D-9402-4836-A20F-D3861B57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0325"/>
            <a:ext cx="2800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9B77"/>
            </a:solidFill>
            <a:prstDash val="solid"/>
          </a:ln>
        </p:spPr>
      </p:sp>
      <p:sp>
        <p:nvSpPr>
          <p:cNvPr id="3134" name="method-flow-spine">
            <a:extLst xmlns:a="http://schemas.openxmlformats.org/drawingml/2006/main">
              <a:ext uri="{FF2B5EF4-FFF2-40B4-BE49-F238E27FC236}">
                <a16:creationId xmlns:a16="http://schemas.microsoft.com/office/drawing/2014/main" id="{A31872D6-1543-4C02-B553-27CA42B3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648450"/>
            <a:ext cx="0" cy="2676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9B77"/>
            </a:solidFill>
            <a:prstDash val="solid"/>
          </a:ln>
        </p:spPr>
      </p:sp>
      <p:sp>
        <p:nvSpPr>
          <p:cNvPr id="3135" name="flow-marker-1">
            <a:extLst xmlns:a="http://schemas.openxmlformats.org/drawingml/2006/main">
              <a:ext uri="{FF2B5EF4-FFF2-40B4-BE49-F238E27FC236}">
                <a16:creationId xmlns:a16="http://schemas.microsoft.com/office/drawing/2014/main" id="{69394FB9-06EA-4C3F-BB92-93479C33B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198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B77"/>
          </a:solidFill>
          <a:ln xmlns:a="http://schemas.openxmlformats.org/drawingml/2006/main" w="0">
            <a:solidFill>
              <a:srgbClr val="009B77"/>
            </a:solidFill>
            <a:prstDash val="solid"/>
          </a:ln>
        </p:spPr>
      </p:sp>
      <p:sp>
        <p:nvSpPr>
          <p:cNvPr id="3136" name="flow-number-1">
            <a:extLst xmlns:a="http://schemas.openxmlformats.org/drawingml/2006/main">
              <a:ext uri="{FF2B5EF4-FFF2-40B4-BE49-F238E27FC236}">
                <a16:creationId xmlns:a16="http://schemas.microsoft.com/office/drawing/2014/main" id="{D759B34E-EB88-44F9-9956-1A23E9F6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1987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63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3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3137" name="flow-step-1">
            <a:extLst xmlns:a="http://schemas.openxmlformats.org/drawingml/2006/main">
              <a:ext uri="{FF2B5EF4-FFF2-40B4-BE49-F238E27FC236}">
                <a16:creationId xmlns:a16="http://schemas.microsoft.com/office/drawing/2014/main" id="{234B2AB0-3085-4A86-83D1-E93A6110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77000"/>
            <a:ext cx="2381250" cy="55245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EAF6F3"/>
          </a:solidFill>
          <a:ln xmlns:a="http://schemas.openxmlformats.org/drawingml/2006/main" w="9525">
            <a:solidFill>
              <a:srgbClr val="B7DED5"/>
            </a:solidFill>
            <a:prstDash val="solid"/>
          </a:ln>
        </p:spPr>
        <p:txBody>
          <a:bodyPr xmlns:a="http://schemas.openxmlformats.org/drawingml/2006/main" wrap="square" lIns="85725" tIns="28575" rIns="66675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15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15" b="1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rPr>
              <a:t>Group sources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15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15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rPr>
              <a:t>Keep background negatives</a:t>
            </a:r>
          </a:p>
        </p:txBody>
      </p:sp>
      <p:sp>
        <p:nvSpPr>
          <p:cNvPr id="3138" name="flow-marker-2">
            <a:extLst xmlns:a="http://schemas.openxmlformats.org/drawingml/2006/main">
              <a:ext uri="{FF2B5EF4-FFF2-40B4-BE49-F238E27FC236}">
                <a16:creationId xmlns:a16="http://schemas.microsoft.com/office/drawing/2014/main" id="{9772B184-6503-4CA3-8293-3D8393E73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913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1F35"/>
          </a:solidFill>
          <a:ln xmlns:a="http://schemas.openxmlformats.org/drawingml/2006/main" w="0">
            <a:solidFill>
              <a:srgbClr val="8E1F35"/>
            </a:solidFill>
            <a:prstDash val="solid"/>
          </a:ln>
        </p:spPr>
      </p:sp>
      <p:sp>
        <p:nvSpPr>
          <p:cNvPr id="3139" name="flow-number-2">
            <a:extLst xmlns:a="http://schemas.openxmlformats.org/drawingml/2006/main">
              <a:ext uri="{FF2B5EF4-FFF2-40B4-BE49-F238E27FC236}">
                <a16:creationId xmlns:a16="http://schemas.microsoft.com/office/drawing/2014/main" id="{4E92B812-A19B-408D-903A-95A959CB9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9137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63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3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3140" name="flow-step-2">
            <a:extLst xmlns:a="http://schemas.openxmlformats.org/drawingml/2006/main">
              <a:ext uri="{FF2B5EF4-FFF2-40B4-BE49-F238E27FC236}">
                <a16:creationId xmlns:a16="http://schemas.microsoft.com/office/drawing/2014/main" id="{4E6B8482-2C41-4190-B328-CD2C2C2D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048500"/>
            <a:ext cx="2381250" cy="55245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EDF5FE"/>
          </a:solidFill>
          <a:ln xmlns:a="http://schemas.openxmlformats.org/drawingml/2006/main" w="9525">
            <a:solidFill>
              <a:srgbClr val="CBDDF3"/>
            </a:solidFill>
            <a:prstDash val="solid"/>
          </a:ln>
        </p:spPr>
        <p:txBody>
          <a:bodyPr xmlns:a="http://schemas.openxmlformats.org/drawingml/2006/main" wrap="square" lIns="85725" tIns="28575" rIns="66675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15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15" b="1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rPr>
              <a:t>Deduplicate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15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15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rPr>
              <a:t>Name · SHA-256 · pHash ≤ 4</a:t>
            </a:r>
          </a:p>
        </p:txBody>
      </p:sp>
      <p:sp>
        <p:nvSpPr>
          <p:cNvPr id="3141" name="flow-marker-3">
            <a:extLst xmlns:a="http://schemas.openxmlformats.org/drawingml/2006/main">
              <a:ext uri="{FF2B5EF4-FFF2-40B4-BE49-F238E27FC236}">
                <a16:creationId xmlns:a16="http://schemas.microsoft.com/office/drawing/2014/main" id="{C4A44159-DE56-4711-A6EC-2A0BD65B9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7628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B77"/>
          </a:solidFill>
          <a:ln xmlns:a="http://schemas.openxmlformats.org/drawingml/2006/main" w="0">
            <a:solidFill>
              <a:srgbClr val="009B77"/>
            </a:solidFill>
            <a:prstDash val="solid"/>
          </a:ln>
        </p:spPr>
      </p:sp>
      <p:sp>
        <p:nvSpPr>
          <p:cNvPr id="3142" name="flow-number-3">
            <a:extLst xmlns:a="http://schemas.openxmlformats.org/drawingml/2006/main">
              <a:ext uri="{FF2B5EF4-FFF2-40B4-BE49-F238E27FC236}">
                <a16:creationId xmlns:a16="http://schemas.microsoft.com/office/drawing/2014/main" id="{58EA3A30-1E03-4524-8152-786A25CD0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76287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63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3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3143" name="flow-step-3">
            <a:extLst xmlns:a="http://schemas.openxmlformats.org/drawingml/2006/main">
              <a:ext uri="{FF2B5EF4-FFF2-40B4-BE49-F238E27FC236}">
                <a16:creationId xmlns:a16="http://schemas.microsoft.com/office/drawing/2014/main" id="{4D9037C4-38A4-4A8F-8D98-707F3DB07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620000"/>
            <a:ext cx="2381250" cy="55245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EAF6F3"/>
          </a:solidFill>
          <a:ln xmlns:a="http://schemas.openxmlformats.org/drawingml/2006/main" w="9525">
            <a:solidFill>
              <a:srgbClr val="B7DED5"/>
            </a:solidFill>
            <a:prstDash val="solid"/>
          </a:ln>
        </p:spPr>
        <p:txBody>
          <a:bodyPr xmlns:a="http://schemas.openxmlformats.org/drawingml/2006/main" wrap="square" lIns="85725" tIns="28575" rIns="66675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15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15" b="1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rPr>
              <a:t>Freeze clean split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15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15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rPr>
              <a:t>1,511 train · 188 val · 188 test</a:t>
            </a:r>
          </a:p>
        </p:txBody>
      </p:sp>
      <p:sp>
        <p:nvSpPr>
          <p:cNvPr id="3144" name="flow-marker-4">
            <a:extLst xmlns:a="http://schemas.openxmlformats.org/drawingml/2006/main">
              <a:ext uri="{FF2B5EF4-FFF2-40B4-BE49-F238E27FC236}">
                <a16:creationId xmlns:a16="http://schemas.microsoft.com/office/drawing/2014/main" id="{AC8CFBD2-71D2-458C-B38C-46FD91B2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343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1F35"/>
          </a:solidFill>
          <a:ln xmlns:a="http://schemas.openxmlformats.org/drawingml/2006/main" w="0">
            <a:solidFill>
              <a:srgbClr val="8E1F35"/>
            </a:solidFill>
            <a:prstDash val="solid"/>
          </a:ln>
        </p:spPr>
      </p:sp>
      <p:sp>
        <p:nvSpPr>
          <p:cNvPr id="3145" name="flow-number-4">
            <a:extLst xmlns:a="http://schemas.openxmlformats.org/drawingml/2006/main">
              <a:ext uri="{FF2B5EF4-FFF2-40B4-BE49-F238E27FC236}">
                <a16:creationId xmlns:a16="http://schemas.microsoft.com/office/drawing/2014/main" id="{49ABB544-EE1A-4200-9D3F-F2447631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3437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63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3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3146" name="flow-step-4">
            <a:extLst xmlns:a="http://schemas.openxmlformats.org/drawingml/2006/main">
              <a:ext uri="{FF2B5EF4-FFF2-40B4-BE49-F238E27FC236}">
                <a16:creationId xmlns:a16="http://schemas.microsoft.com/office/drawing/2014/main" id="{0E1BFC88-7BCF-4C51-B681-19AA13668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191500"/>
            <a:ext cx="2381250" cy="55245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EDF5FE"/>
          </a:solidFill>
          <a:ln xmlns:a="http://schemas.openxmlformats.org/drawingml/2006/main" w="9525">
            <a:solidFill>
              <a:srgbClr val="CBDDF3"/>
            </a:solidFill>
            <a:prstDash val="solid"/>
          </a:ln>
        </p:spPr>
        <p:txBody>
          <a:bodyPr xmlns:a="http://schemas.openxmlformats.org/drawingml/2006/main" wrap="square" lIns="85725" tIns="28575" rIns="66675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15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15" b="1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rPr>
              <a:t>Fine-tune YOLOv5s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15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15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rPr>
              <a:t>45 epochs · 640² · batch 8 · MPS</a:t>
            </a:r>
          </a:p>
        </p:txBody>
      </p:sp>
      <p:sp>
        <p:nvSpPr>
          <p:cNvPr id="3147" name="flow-marker-5">
            <a:extLst xmlns:a="http://schemas.openxmlformats.org/drawingml/2006/main">
              <a:ext uri="{FF2B5EF4-FFF2-40B4-BE49-F238E27FC236}">
                <a16:creationId xmlns:a16="http://schemas.microsoft.com/office/drawing/2014/main" id="{6E798242-C352-4717-BA0B-6C9D7496F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9058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B77"/>
          </a:solidFill>
          <a:ln xmlns:a="http://schemas.openxmlformats.org/drawingml/2006/main" w="0">
            <a:solidFill>
              <a:srgbClr val="009B77"/>
            </a:solidFill>
            <a:prstDash val="solid"/>
          </a:ln>
        </p:spPr>
      </p:sp>
      <p:sp>
        <p:nvSpPr>
          <p:cNvPr id="3148" name="flow-number-5">
            <a:extLst xmlns:a="http://schemas.openxmlformats.org/drawingml/2006/main">
              <a:ext uri="{FF2B5EF4-FFF2-40B4-BE49-F238E27FC236}">
                <a16:creationId xmlns:a16="http://schemas.microsoft.com/office/drawing/2014/main" id="{632AE916-5394-4686-9EE5-384BCFA9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90587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63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3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sp>
        <p:nvSpPr>
          <p:cNvPr id="3149" name="flow-step-5">
            <a:extLst xmlns:a="http://schemas.openxmlformats.org/drawingml/2006/main">
              <a:ext uri="{FF2B5EF4-FFF2-40B4-BE49-F238E27FC236}">
                <a16:creationId xmlns:a16="http://schemas.microsoft.com/office/drawing/2014/main" id="{DE3CEE62-8DC5-4AAB-AF7A-16E483DB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0"/>
            <a:ext cx="2381250" cy="55245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EAF6F3"/>
          </a:solidFill>
          <a:ln xmlns:a="http://schemas.openxmlformats.org/drawingml/2006/main" w="9525">
            <a:solidFill>
              <a:srgbClr val="B7DED5"/>
            </a:solidFill>
            <a:prstDash val="solid"/>
          </a:ln>
        </p:spPr>
        <p:txBody>
          <a:bodyPr xmlns:a="http://schemas.openxmlformats.org/drawingml/2006/main" wrap="square" lIns="85725" tIns="28575" rIns="66675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15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15" b="1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rPr>
              <a:t>Independent test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15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15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rPr>
              <a:t>Both checkpoints · same test</a:t>
            </a:r>
          </a:p>
        </p:txBody>
      </p:sp>
      <p:sp>
        <p:nvSpPr>
          <p:cNvPr id="3150" name="training-setup-band">
            <a:extLst xmlns:a="http://schemas.openxmlformats.org/drawingml/2006/main">
              <a:ext uri="{FF2B5EF4-FFF2-40B4-BE49-F238E27FC236}">
                <a16:creationId xmlns:a16="http://schemas.microsoft.com/office/drawing/2014/main" id="{DF4B7FAE-D9C3-4CA3-B7C1-D0973A79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439275"/>
            <a:ext cx="2800350" cy="1724025"/>
          </a:xfrm>
          <a:prstGeom xmlns:a="http://schemas.openxmlformats.org/drawingml/2006/main" prst="roundRect">
            <a:avLst>
              <a:gd name="adj" fmla="val 5525"/>
            </a:avLst>
          </a:prstGeom>
          <a:solidFill xmlns:a="http://schemas.openxmlformats.org/drawingml/2006/main">
            <a:srgbClr val="EAF6F3"/>
          </a:solidFill>
          <a:ln xmlns:a="http://schemas.openxmlformats.org/drawingml/2006/main" w="9525">
            <a:solidFill>
              <a:srgbClr val="B7DED5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23" b="1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23" b="1">
                <a:solidFill>
                  <a:srgbClr val="8E1F35"/>
                </a:solidFill>
                <a:latin typeface="Times New Roman"/>
                <a:ea typeface="Times New Roman"/>
                <a:cs typeface="Times New Roman"/>
              </a:rPr>
              <a:t>DATASET + LEAKAGE AUDIT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23" b="1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23" b="1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rPr>
              <a:t>1,887 cleaned image-label pairs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23" b="1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23" b="1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rPr>
              <a:t>Train 1,511 (276 bg) | Val 188 (34 bg) | Test 188 (34 bg)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23" b="1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23" b="1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rPr>
              <a:t>Test: 188 images · 171 objects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23" b="1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23" b="1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rPr>
              <a:t>0 source-name, exact SHA-256 or pHash overlaps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23" b="1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23" b="1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rPr>
              <a:t>Class 1 corrected to flame</a:t>
            </a:r>
          </a:p>
        </p:txBody>
      </p:sp>
      <p:sp>
        <p:nvSpPr>
          <p:cNvPr id="3151" name="method-evaluation-label">
            <a:extLst xmlns:a="http://schemas.openxmlformats.org/drawingml/2006/main">
              <a:ext uri="{FF2B5EF4-FFF2-40B4-BE49-F238E27FC236}">
                <a16:creationId xmlns:a16="http://schemas.microsoft.com/office/drawing/2014/main" id="{B95D2028-D326-49B6-A2CD-743DFE14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87125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8E1F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8E1F35"/>
                </a:solidFill>
                <a:latin typeface="Times New Roman"/>
                <a:ea typeface="Times New Roman"/>
                <a:cs typeface="Times New Roman"/>
              </a:rPr>
              <a:t>REPRODUCIBLE LOCAL TRAINING</a:t>
            </a:r>
          </a:p>
        </p:txBody>
      </p:sp>
      <p:sp>
        <p:nvSpPr>
          <p:cNvPr id="3152" name="method-evaluation-copy">
            <a:extLst xmlns:a="http://schemas.openxmlformats.org/drawingml/2006/main">
              <a:ext uri="{FF2B5EF4-FFF2-40B4-BE49-F238E27FC236}">
                <a16:creationId xmlns:a16="http://schemas.microsoft.com/office/drawing/2014/main" id="{8BD11EE2-DB63-415D-95B2-AB01DDAC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582400"/>
            <a:ext cx="2762250" cy="5610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23" b="0" i="0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23" b="0" i="0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rPr>
              <a:t>YOLOv5s · 7.02M parameters · legacy best.pt initialisation · all layers unfrozen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23" b="0" i="0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23" b="0" i="0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rPr>
              <a:t>45 epochs | 640 × 640 | batch 8 | MPS | workers 2 | seed 0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23" b="0" i="0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23" b="0" i="0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rPr>
              <a:t>2 h 04 min | 2.82 GB max RSS | ~13.1 GB unified-memory footprint | 0 swaps | 14 MB model | 11.3 ms/image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1F24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1F2428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23" b="0" i="0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23" b="1" i="0">
                <a:solidFill>
                  <a:srgbClr val="8E1F35"/>
                </a:solidFill>
                <a:latin typeface="Times New Roman"/>
                <a:ea typeface="Times New Roman"/>
                <a:cs typeface="Times New Roman"/>
              </a:rPr>
              <a:t>SYSTEM CONCEPT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23" b="0" i="0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23" b="0" i="0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rPr>
              <a:t>CCTV / edge video → detection → confidence filter → human verification → alert and route-planning interface.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1F24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1F2428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23" b="0" i="0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23" b="1" i="0">
                <a:solidFill>
                  <a:srgbClr val="8E1F35"/>
                </a:solidFill>
                <a:latin typeface="Times New Roman"/>
                <a:ea typeface="Times New Roman"/>
                <a:cs typeface="Times New Roman"/>
              </a:rPr>
              <a:t>EVIDENCE POLICY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23" b="0" i="0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23" b="0" i="0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rPr>
              <a:t>Interpret split-integrity checks and independent-test metrics together. Legacy validation and one inference image are not deployment evidence.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1F24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1F2428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23" b="0" i="0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23" b="0" i="0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rPr>
              <a:t>Scope: detector evaluation only; route integration remains a prototype concept.</a:t>
            </a:r>
          </a:p>
        </p:txBody>
      </p:sp>
      <p:sp>
        <p:nvSpPr>
          <p:cNvPr id="3153" name="evidence-boundary-band">
            <a:extLst xmlns:a="http://schemas.openxmlformats.org/drawingml/2006/main">
              <a:ext uri="{FF2B5EF4-FFF2-40B4-BE49-F238E27FC236}">
                <a16:creationId xmlns:a16="http://schemas.microsoft.com/office/drawing/2014/main" id="{D5093714-5714-4ECF-90D5-F080EB343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9144000"/>
            <a:ext cx="3086100" cy="4724400"/>
          </a:xfrm>
          <a:prstGeom xmlns:a="http://schemas.openxmlformats.org/drawingml/2006/main" prst="roundRect">
            <a:avLst>
              <a:gd name="adj" fmla="val 3086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EDC477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23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23" b="1">
                <a:solidFill>
                  <a:srgbClr val="8E1F35"/>
                </a:solidFill>
                <a:latin typeface="Times New Roman"/>
                <a:ea typeface="Times New Roman"/>
                <a:cs typeface="Times New Roman"/>
              </a:rPr>
              <a:t>ERROR ANALYSIS + NEXT EXPERIMENTS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>
                <a:solidFill>
                  <a:srgbClr val="1F24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>
                <a:solidFill>
                  <a:srgbClr val="1F2428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23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23" b="1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rPr>
              <a:t>1  SMALL / OCCLUDED CIGARETTES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23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23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rPr>
              <a:t>Add close-range and occlusion samples; tune class confidence and IoU.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>
                <a:solidFill>
                  <a:srgbClr val="1F24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>
                <a:solidFill>
                  <a:srgbClr val="1F2428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23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23" b="1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rPr>
              <a:t>2  FIRE-LIKE HARD NEGATIVES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23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23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rPr>
              <a:t>Add lights, sunsets, reflections, fog, steam and low-light scenes; measure false alarms/hour.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>
                <a:solidFill>
                  <a:srgbClr val="1F24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>
                <a:solidFill>
                  <a:srgbClr val="1F2428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23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23" b="1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rPr>
              <a:t>3  TEMPORAL + DOMAIN VALIDATION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23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23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rPr>
              <a:t>Test consistency, latency and sustained-event recall on unseen buildings/cameras.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>
                <a:solidFill>
                  <a:srgbClr val="1F24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>
                <a:solidFill>
                  <a:srgbClr val="1F2428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23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23" b="1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rPr>
              <a:t>4  SAFE SYSTEM INTEGRATION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23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23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rPr>
              <a:t>Send only human-verified detections to the route prototype; certified alarms remain primary.</a:t>
            </a:r>
          </a:p>
        </p:txBody>
      </p:sp>
      <p:sp>
        <p:nvSpPr>
          <p:cNvPr id="3154" name="prototype-warning">
            <a:extLst xmlns:a="http://schemas.openxmlformats.org/drawingml/2006/main">
              <a:ext uri="{FF2B5EF4-FFF2-40B4-BE49-F238E27FC236}">
                <a16:creationId xmlns:a16="http://schemas.microsoft.com/office/drawing/2014/main" id="{7F26AE5D-E53E-4FA8-BCDE-71891E32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581275"/>
            <a:ext cx="9715500" cy="476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8EFF2"/>
          </a:solidFill>
          <a:ln xmlns:a="http://schemas.openxmlformats.org/drawingml/2006/main" w="9525">
            <a:solidFill>
              <a:srgbClr val="DEC7D0"/>
            </a:solidFill>
            <a:prstDash val="solid"/>
          </a:ln>
        </p:spPr>
        <p:txBody>
          <a:bodyPr xmlns:a="http://schemas.openxmlformats.org/drawingml/2006/main" wrap="square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8E1F35"/>
                </a:solidFill>
                <a:latin typeface="Times New Roman"/>
                <a:ea typeface="Times New Roman"/>
                <a:cs typeface="Times New Roman"/>
              </a:rPr>
              <a:t>TAKE-HOME RESULT</a:t>
            </a:r>
            <a:r>
              <a:rPr sz="1350" b="1" i="0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rPr>
              <a:t>  |  legacy clean-test mAP@0.5 0.084  →  leakage-safe retraining 0.755  (+0.671)</a:t>
            </a:r>
          </a:p>
        </p:txBody>
      </p:sp>
      <p:sp>
        <p:nvSpPr>
          <p:cNvPr id="3155" name="section-IV-Findings">
            <a:extLst xmlns:a="http://schemas.openxmlformats.org/drawingml/2006/main">
              <a:ext uri="{FF2B5EF4-FFF2-40B4-BE49-F238E27FC236}">
                <a16:creationId xmlns:a16="http://schemas.microsoft.com/office/drawing/2014/main" id="{2B2B541F-6E0D-4E80-B25D-FFA1A35E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14700"/>
            <a:ext cx="312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30" b="1" i="0">
                <a:solidFill>
                  <a:srgbClr val="8E1F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30" b="1" i="0">
                <a:solidFill>
                  <a:srgbClr val="8E1F35"/>
                </a:solidFill>
                <a:latin typeface="Times New Roman"/>
                <a:ea typeface="Times New Roman"/>
                <a:cs typeface="Times New Roman"/>
              </a:rPr>
              <a:t>IV. Findings</a:t>
            </a:r>
          </a:p>
        </p:txBody>
      </p:sp>
      <p:sp>
        <p:nvSpPr>
          <p:cNvPr id="3156" name="section-rule-IV">
            <a:extLst xmlns:a="http://schemas.openxmlformats.org/drawingml/2006/main">
              <a:ext uri="{FF2B5EF4-FFF2-40B4-BE49-F238E27FC236}">
                <a16:creationId xmlns:a16="http://schemas.microsoft.com/office/drawing/2014/main" id="{1F115FC1-EF69-4A92-AB0E-AF3ED372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57600"/>
            <a:ext cx="312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9B77"/>
            </a:solidFill>
            <a:prstDash val="solid"/>
          </a:ln>
        </p:spPr>
      </p:sp>
      <p:sp>
        <p:nvSpPr>
          <p:cNvPr id="3157" name="metrics-strip">
            <a:extLst xmlns:a="http://schemas.openxmlformats.org/drawingml/2006/main">
              <a:ext uri="{FF2B5EF4-FFF2-40B4-BE49-F238E27FC236}">
                <a16:creationId xmlns:a16="http://schemas.microsoft.com/office/drawing/2014/main" id="{492E18FD-6CB4-459D-B377-A3C68215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24275"/>
            <a:ext cx="3124200" cy="1295400"/>
          </a:xfrm>
          <a:prstGeom xmlns:a="http://schemas.openxmlformats.org/drawingml/2006/main" prst="roundRect">
            <a:avLst>
              <a:gd name="adj" fmla="val 735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E0D8"/>
            </a:solidFill>
            <a:prstDash val="solid"/>
          </a:ln>
        </p:spPr>
      </p:sp>
      <p:sp>
        <p:nvSpPr>
          <p:cNvPr id="3158" name="metric-Precision-value">
            <a:extLst xmlns:a="http://schemas.openxmlformats.org/drawingml/2006/main">
              <a:ext uri="{FF2B5EF4-FFF2-40B4-BE49-F238E27FC236}">
                <a16:creationId xmlns:a16="http://schemas.microsoft.com/office/drawing/2014/main" id="{28360BCA-462C-461D-A1D7-C1E17F38C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771900"/>
            <a:ext cx="1390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 i="0">
                <a:solidFill>
                  <a:srgbClr val="8E1F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8E1F35"/>
                </a:solidFill>
                <a:latin typeface="Times New Roman"/>
                <a:ea typeface="Times New Roman"/>
                <a:cs typeface="Times New Roman"/>
              </a:rPr>
              <a:t>0.841</a:t>
            </a:r>
          </a:p>
        </p:txBody>
      </p:sp>
      <p:sp>
        <p:nvSpPr>
          <p:cNvPr id="3159" name="metric-Precision-label">
            <a:extLst xmlns:a="http://schemas.openxmlformats.org/drawingml/2006/main">
              <a:ext uri="{FF2B5EF4-FFF2-40B4-BE49-F238E27FC236}">
                <a16:creationId xmlns:a16="http://schemas.microsoft.com/office/drawing/2014/main" id="{9AAE006B-646A-4D3F-A05B-2555FA21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1052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48" b="1" i="0">
                <a:solidFill>
                  <a:srgbClr val="6572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48" b="1" i="0">
                <a:solidFill>
                  <a:srgbClr val="65727D"/>
                </a:solidFill>
                <a:latin typeface="Times New Roman"/>
                <a:ea typeface="Times New Roman"/>
                <a:cs typeface="Times New Roman"/>
              </a:rPr>
              <a:t>Precision</a:t>
            </a:r>
          </a:p>
        </p:txBody>
      </p:sp>
      <p:sp>
        <p:nvSpPr>
          <p:cNvPr id="3160" name="metric-Recall-value">
            <a:extLst xmlns:a="http://schemas.openxmlformats.org/drawingml/2006/main">
              <a:ext uri="{FF2B5EF4-FFF2-40B4-BE49-F238E27FC236}">
                <a16:creationId xmlns:a16="http://schemas.microsoft.com/office/drawing/2014/main" id="{76F00E1F-260C-44EC-A480-C3365D7F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771900"/>
            <a:ext cx="1390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 i="0">
                <a:solidFill>
                  <a:srgbClr val="8E1F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8E1F35"/>
                </a:solidFill>
                <a:latin typeface="Times New Roman"/>
                <a:ea typeface="Times New Roman"/>
                <a:cs typeface="Times New Roman"/>
              </a:rPr>
              <a:t>0.680</a:t>
            </a:r>
          </a:p>
        </p:txBody>
      </p:sp>
      <p:sp>
        <p:nvSpPr>
          <p:cNvPr id="3161" name="metric-Recall-label">
            <a:extLst xmlns:a="http://schemas.openxmlformats.org/drawingml/2006/main">
              <a:ext uri="{FF2B5EF4-FFF2-40B4-BE49-F238E27FC236}">
                <a16:creationId xmlns:a16="http://schemas.microsoft.com/office/drawing/2014/main" id="{36A5A5B5-443B-4B9F-9A1A-07565DBF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1052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48" b="1" i="0">
                <a:solidFill>
                  <a:srgbClr val="6572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48" b="1" i="0">
                <a:solidFill>
                  <a:srgbClr val="65727D"/>
                </a:solidFill>
                <a:latin typeface="Times New Roman"/>
                <a:ea typeface="Times New Roman"/>
                <a:cs typeface="Times New Roman"/>
              </a:rPr>
              <a:t>Recall</a:t>
            </a:r>
          </a:p>
        </p:txBody>
      </p:sp>
      <p:sp>
        <p:nvSpPr>
          <p:cNvPr id="3162" name="metric-mAP@0.5-value">
            <a:extLst xmlns:a="http://schemas.openxmlformats.org/drawingml/2006/main">
              <a:ext uri="{FF2B5EF4-FFF2-40B4-BE49-F238E27FC236}">
                <a16:creationId xmlns:a16="http://schemas.microsoft.com/office/drawing/2014/main" id="{D79C30FD-90D5-4485-97A8-29F51B25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371975"/>
            <a:ext cx="1390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 i="0">
                <a:solidFill>
                  <a:srgbClr val="8E1F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8E1F35"/>
                </a:solidFill>
                <a:latin typeface="Times New Roman"/>
                <a:ea typeface="Times New Roman"/>
                <a:cs typeface="Times New Roman"/>
              </a:rPr>
              <a:t>0.755</a:t>
            </a:r>
          </a:p>
        </p:txBody>
      </p:sp>
      <p:sp>
        <p:nvSpPr>
          <p:cNvPr id="3163" name="metric-mAP@0.5-label">
            <a:extLst xmlns:a="http://schemas.openxmlformats.org/drawingml/2006/main">
              <a:ext uri="{FF2B5EF4-FFF2-40B4-BE49-F238E27FC236}">
                <a16:creationId xmlns:a16="http://schemas.microsoft.com/office/drawing/2014/main" id="{4ABDC610-02F5-4F3E-9589-786DDEB9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70535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48" b="1" i="0">
                <a:solidFill>
                  <a:srgbClr val="6572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48" b="1" i="0">
                <a:solidFill>
                  <a:srgbClr val="65727D"/>
                </a:solidFill>
                <a:latin typeface="Times New Roman"/>
                <a:ea typeface="Times New Roman"/>
                <a:cs typeface="Times New Roman"/>
              </a:rPr>
              <a:t>mAP@0.5</a:t>
            </a:r>
          </a:p>
        </p:txBody>
      </p:sp>
      <p:sp>
        <p:nvSpPr>
          <p:cNvPr id="3164" name="metric-mAP@0.5:0.95-value">
            <a:extLst xmlns:a="http://schemas.openxmlformats.org/drawingml/2006/main">
              <a:ext uri="{FF2B5EF4-FFF2-40B4-BE49-F238E27FC236}">
                <a16:creationId xmlns:a16="http://schemas.microsoft.com/office/drawing/2014/main" id="{804FFDE8-9B9E-4A08-BC19-0D1B1C06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371975"/>
            <a:ext cx="1390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 i="0">
                <a:solidFill>
                  <a:srgbClr val="8E1F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8E1F35"/>
                </a:solidFill>
                <a:latin typeface="Times New Roman"/>
                <a:ea typeface="Times New Roman"/>
                <a:cs typeface="Times New Roman"/>
              </a:rPr>
              <a:t>0.453</a:t>
            </a:r>
          </a:p>
        </p:txBody>
      </p:sp>
      <p:sp>
        <p:nvSpPr>
          <p:cNvPr id="3165" name="metric-mAP@0.5:0.95-label">
            <a:extLst xmlns:a="http://schemas.openxmlformats.org/drawingml/2006/main">
              <a:ext uri="{FF2B5EF4-FFF2-40B4-BE49-F238E27FC236}">
                <a16:creationId xmlns:a16="http://schemas.microsoft.com/office/drawing/2014/main" id="{F6C583BE-B7C1-44CE-8849-15CE0162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70535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48" b="1" i="0">
                <a:solidFill>
                  <a:srgbClr val="6572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48" b="1" i="0">
                <a:solidFill>
                  <a:srgbClr val="65727D"/>
                </a:solidFill>
                <a:latin typeface="Times New Roman"/>
                <a:ea typeface="Times New Roman"/>
                <a:cs typeface="Times New Roman"/>
              </a:rPr>
              <a:t>mAP@0.5:0.95</a:t>
            </a:r>
          </a:p>
        </p:txBody>
      </p:sp>
      <p:sp>
        <p:nvSpPr>
          <p:cNvPr id="3166" name="pr-curve-backdrop">
            <a:extLst xmlns:a="http://schemas.openxmlformats.org/drawingml/2006/main">
              <a:ext uri="{FF2B5EF4-FFF2-40B4-BE49-F238E27FC236}">
                <a16:creationId xmlns:a16="http://schemas.microsoft.com/office/drawing/2014/main" id="{8AF8D68A-8C73-4039-8E50-BA014EA3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3124200" cy="3105150"/>
          </a:xfrm>
          <a:prstGeom xmlns:a="http://schemas.openxmlformats.org/drawingml/2006/main" prst="roundRect">
            <a:avLst>
              <a:gd name="adj" fmla="val 276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6E0E4"/>
            </a:solidFill>
            <a:prstDash val="solid"/>
          </a:ln>
        </p:spPr>
      </p:sp>
      <p:pic>
        <p:nvPicPr>
          <p:cNvPr id="32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bd336732564b31"/>
          <a:stretch xmlns:a="http://schemas.openxmlformats.org/drawingml/2006/main"/>
        </p:blipFill>
        <p:spPr>
          <a:xfrm xmlns:a="http://schemas.openxmlformats.org/drawingml/2006/main">
            <a:off x="3619500" y="5357515"/>
            <a:ext cx="3009900" cy="2210395"/>
          </a:xfrm>
          <a:prstGeom xmlns:a="http://schemas.openxmlformats.org/drawingml/2006/main" prst="rect">
            <a:avLst/>
          </a:prstGeom>
        </p:spPr>
      </p:pic>
      <p:sp>
        <p:nvSpPr>
          <p:cNvPr id="3168" name="pr-caption">
            <a:extLst xmlns:a="http://schemas.openxmlformats.org/drawingml/2006/main">
              <a:ext uri="{FF2B5EF4-FFF2-40B4-BE49-F238E27FC236}">
                <a16:creationId xmlns:a16="http://schemas.microsoft.com/office/drawing/2014/main" id="{1E5D3016-BF7D-4C0C-AA75-A6F2DA3E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775335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1">
                <a:solidFill>
                  <a:srgbClr val="E58A1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 i="1">
                <a:solidFill>
                  <a:srgbClr val="E58A1F"/>
                </a:solidFill>
                <a:latin typeface="Times New Roman"/>
                <a:ea typeface="Times New Roman"/>
                <a:cs typeface="Times New Roman"/>
              </a:rPr>
              <a:t>*Legacy val used an old split/class definition and is contextual only. Clean-test bars use the same 188 images.</a:t>
            </a:r>
          </a:p>
        </p:txBody>
      </p:sp>
      <p:sp>
        <p:nvSpPr>
          <p:cNvPr id="3169" name="confusion-matrix-backdrop">
            <a:extLst xmlns:a="http://schemas.openxmlformats.org/drawingml/2006/main">
              <a:ext uri="{FF2B5EF4-FFF2-40B4-BE49-F238E27FC236}">
                <a16:creationId xmlns:a16="http://schemas.microsoft.com/office/drawing/2014/main" id="{5D9E9E64-B908-4526-94CE-D30047D8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314700"/>
            <a:ext cx="3086100" cy="57150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4"/>
            </a:solidFill>
            <a:prstDash val="solid"/>
          </a:ln>
        </p:spPr>
        <p:txBody>
          <a:bodyPr xmlns:a="http://schemas.openxmlformats.org/drawingml/2006/main" wrap="square" lIns="38100" tIns="57150" rIns="3810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8E1F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8E1F35"/>
                </a:solidFill>
                <a:latin typeface="Times New Roman"/>
                <a:ea typeface="Times New Roman"/>
                <a:cs typeface="Times New Roman"/>
              </a:rPr>
              <a:t>VISUAL EVIDENCE</a:t>
            </a:r>
          </a:p>
        </p:txBody>
      </p:sp>
      <p:pic>
        <p:nvPicPr>
          <p:cNvPr id="32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0bcb4fbc724c37"/>
          <a:stretch xmlns:a="http://schemas.openxmlformats.org/drawingml/2006/main"/>
        </p:blipFill>
        <p:spPr>
          <a:xfrm xmlns:a="http://schemas.openxmlformats.org/drawingml/2006/main">
            <a:off x="6877050" y="3690938"/>
            <a:ext cx="2971800" cy="5200650"/>
          </a:xfrm>
          <a:prstGeom xmlns:a="http://schemas.openxmlformats.org/drawingml/2006/main" prst="rect">
            <a:avLst/>
          </a:prstGeom>
        </p:spPr>
      </p:pic>
      <p:sp>
        <p:nvSpPr>
          <p:cNvPr id="3171" name="findings-takeaway">
            <a:extLst xmlns:a="http://schemas.openxmlformats.org/drawingml/2006/main">
              <a:ext uri="{FF2B5EF4-FFF2-40B4-BE49-F238E27FC236}">
                <a16:creationId xmlns:a16="http://schemas.microsoft.com/office/drawing/2014/main" id="{8CE54085-300D-4A38-BB03-866D7852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8353425"/>
            <a:ext cx="3124200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EDF5FE"/>
          </a:solidFill>
          <a:ln xmlns:a="http://schemas.openxmlformats.org/drawingml/2006/main" w="9525">
            <a:solidFill>
              <a:srgbClr val="CADDF3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8E1F35"/>
                </a:solidFill>
                <a:latin typeface="Times New Roman"/>
                <a:ea typeface="Times New Roman"/>
                <a:cs typeface="Times New Roman"/>
              </a:rPr>
              <a:t>INDEPENDENT TEST BY CLASS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rPr>
              <a:t>188 images · 171 objects · 11.3 ms/image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rPr>
              <a:t>CIGARETTE n=82</a:t>
            </a:r>
            <a:r>
              <a:rPr sz="1125" b="1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rPr>
              <a:t>  |  P .794  |  R .634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rPr>
              <a:t>AP50 .717  |  AP50–95 .404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1F24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1F2428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rPr>
              <a:t>FLAME n=50</a:t>
            </a:r>
            <a:r>
              <a:rPr sz="1125" b="1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rPr>
              <a:t>  |  P .812  |  R .740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rPr>
              <a:t>AP50 .763  |  AP50–95 .360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1F24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1F2428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rPr>
              <a:t>SMOKE n=39</a:t>
            </a:r>
            <a:r>
              <a:rPr sz="1125" b="1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rPr>
              <a:t>  |  P .919  |  R .667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rPr>
              <a:t>AP50 .786  |  AP50–95 .595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1F24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1F2428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8E1F35"/>
                </a:solidFill>
                <a:latin typeface="Times New Roman"/>
                <a:ea typeface="Times New Roman"/>
                <a:cs typeface="Times New Roman"/>
              </a:rPr>
              <a:t>Δ VS LEGACY CLEAN TEST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rPr>
              <a:t>P +.380  |  R +.575  |  AP50 +.671  |  AP50–95 +.421</a:t>
            </a:r>
          </a:p>
        </p:txBody>
      </p:sp>
      <p:sp>
        <p:nvSpPr>
          <p:cNvPr id="3172" name="section-V-Conclusion">
            <a:extLst xmlns:a="http://schemas.openxmlformats.org/drawingml/2006/main">
              <a:ext uri="{FF2B5EF4-FFF2-40B4-BE49-F238E27FC236}">
                <a16:creationId xmlns:a16="http://schemas.microsoft.com/office/drawing/2014/main" id="{4E323BCF-8560-40FA-8AEA-845E03439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1144250"/>
            <a:ext cx="312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30" b="1" i="0">
                <a:solidFill>
                  <a:srgbClr val="8E1F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30" b="1" i="0">
                <a:solidFill>
                  <a:srgbClr val="8E1F35"/>
                </a:solidFill>
                <a:latin typeface="Times New Roman"/>
                <a:ea typeface="Times New Roman"/>
                <a:cs typeface="Times New Roman"/>
              </a:rPr>
              <a:t>V. Conclusion</a:t>
            </a:r>
          </a:p>
        </p:txBody>
      </p:sp>
      <p:sp>
        <p:nvSpPr>
          <p:cNvPr id="3173" name="section-rule-V">
            <a:extLst xmlns:a="http://schemas.openxmlformats.org/drawingml/2006/main">
              <a:ext uri="{FF2B5EF4-FFF2-40B4-BE49-F238E27FC236}">
                <a16:creationId xmlns:a16="http://schemas.microsoft.com/office/drawing/2014/main" id="{36C2F760-DB95-48A7-A221-522781BA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1487150"/>
            <a:ext cx="312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9B77"/>
            </a:solidFill>
            <a:prstDash val="solid"/>
          </a:ln>
        </p:spPr>
      </p:sp>
      <p:sp>
        <p:nvSpPr>
          <p:cNvPr id="3174" name="conclusion-bullets">
            <a:extLst xmlns:a="http://schemas.openxmlformats.org/drawingml/2006/main">
              <a:ext uri="{FF2B5EF4-FFF2-40B4-BE49-F238E27FC236}">
                <a16:creationId xmlns:a16="http://schemas.microsoft.com/office/drawing/2014/main" id="{F4BAF675-C7E7-49F8-8650-D98EEB34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1572875"/>
            <a:ext cx="3124200" cy="5753100"/>
          </a:xfrm>
          <a:prstGeom xmlns:a="http://schemas.openxmlformats.org/drawingml/2006/main" prst="roundRect">
            <a:avLst>
              <a:gd name="adj" fmla="val 30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4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t">
            <a:noAutofit/>
          </a:bodyPr>
          <a:lstStyle xmlns:a="http://schemas.openxmlformats.org/drawingml/2006/main"/>
          <a:p xmlns:a="http://schemas.openxmlformats.org/drawingml/2006/main">
            <a:pPr marL="18" indent="-10" algn="l">
              <a:lnSpc>
                <a:spcPct val="110000"/>
              </a:lnSpc>
              <a:spcAft>
                <a:spcPts val="7"/>
              </a:spcAft>
              <a:buNone/>
              <a:defRPr sz="1215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15" b="1">
                <a:solidFill>
                  <a:srgbClr val="8E1F35"/>
                </a:solidFill>
                <a:latin typeface="Times New Roman"/>
                <a:ea typeface="Times New Roman"/>
                <a:cs typeface="Times New Roman"/>
              </a:rPr>
              <a:t>WHAT CHANGED</a:t>
            </a:r>
          </a:p>
          <a:p xmlns:a="http://schemas.openxmlformats.org/drawingml/2006/main">
            <a:pPr marL="18" indent="-10" algn="l">
              <a:lnSpc>
                <a:spcPct val="110000"/>
              </a:lnSpc>
              <a:spcAft>
                <a:spcPts val="7"/>
              </a:spcAft>
              <a:buNone/>
              <a:defRPr sz="1215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15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rPr>
              <a:t>• Leakage auditing changed the conclusion: legacy AP50 fell from 0.889 (old validation) to 0.084 on the independent clean test.</a:t>
            </a:r>
          </a:p>
          <a:p xmlns:a="http://schemas.openxmlformats.org/drawingml/2006/main">
            <a:pPr marL="18" indent="-10" algn="l">
              <a:lnSpc>
                <a:spcPct val="110000"/>
              </a:lnSpc>
              <a:spcAft>
                <a:spcPts val="7"/>
              </a:spcAft>
              <a:buNone/>
              <a:defRPr sz="1275">
                <a:solidFill>
                  <a:srgbClr val="1F24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>
                <a:solidFill>
                  <a:srgbClr val="1F2428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pPr marL="18" indent="-10" algn="l">
              <a:lnSpc>
                <a:spcPct val="110000"/>
              </a:lnSpc>
              <a:spcAft>
                <a:spcPts val="7"/>
              </a:spcAft>
              <a:buNone/>
              <a:defRPr sz="1215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15" b="1">
                <a:solidFill>
                  <a:srgbClr val="8E1F35"/>
                </a:solidFill>
                <a:latin typeface="Times New Roman"/>
                <a:ea typeface="Times New Roman"/>
                <a:cs typeface="Times New Roman"/>
              </a:rPr>
              <a:t>WHAT WORKED</a:t>
            </a:r>
          </a:p>
          <a:p xmlns:a="http://schemas.openxmlformats.org/drawingml/2006/main">
            <a:pPr marL="18" indent="-10" algn="l">
              <a:lnSpc>
                <a:spcPct val="110000"/>
              </a:lnSpc>
              <a:spcAft>
                <a:spcPts val="7"/>
              </a:spcAft>
              <a:buNone/>
              <a:defRPr sz="1215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15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rPr>
              <a:t>• Retraining reached AP50 0.755 and AP50–95 0.453 with no cross-split leakage.</a:t>
            </a:r>
          </a:p>
          <a:p xmlns:a="http://schemas.openxmlformats.org/drawingml/2006/main">
            <a:pPr marL="18" indent="-10" algn="l">
              <a:lnSpc>
                <a:spcPct val="110000"/>
              </a:lnSpc>
              <a:spcAft>
                <a:spcPts val="7"/>
              </a:spcAft>
              <a:buNone/>
              <a:defRPr sz="1215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15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rPr>
              <a:t>• Smoke led precision (0.919) and strict AP (0.595).</a:t>
            </a:r>
          </a:p>
          <a:p xmlns:a="http://schemas.openxmlformats.org/drawingml/2006/main">
            <a:pPr marL="18" indent="-10" algn="l">
              <a:lnSpc>
                <a:spcPct val="110000"/>
              </a:lnSpc>
              <a:spcAft>
                <a:spcPts val="7"/>
              </a:spcAft>
              <a:buNone/>
              <a:defRPr sz="1275">
                <a:solidFill>
                  <a:srgbClr val="1F24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>
                <a:solidFill>
                  <a:srgbClr val="1F2428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pPr marL="18" indent="-10" algn="l">
              <a:lnSpc>
                <a:spcPct val="110000"/>
              </a:lnSpc>
              <a:spcAft>
                <a:spcPts val="7"/>
              </a:spcAft>
              <a:buNone/>
              <a:defRPr sz="1215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15" b="1">
                <a:solidFill>
                  <a:srgbClr val="8E1F35"/>
                </a:solidFill>
                <a:latin typeface="Times New Roman"/>
                <a:ea typeface="Times New Roman"/>
                <a:cs typeface="Times New Roman"/>
              </a:rPr>
              <a:t>WHAT REMAINS</a:t>
            </a:r>
          </a:p>
          <a:p xmlns:a="http://schemas.openxmlformats.org/drawingml/2006/main">
            <a:pPr marL="18" indent="-10" algn="l">
              <a:lnSpc>
                <a:spcPct val="110000"/>
              </a:lnSpc>
              <a:spcAft>
                <a:spcPts val="7"/>
              </a:spcAft>
              <a:buNone/>
              <a:defRPr sz="1215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15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rPr>
              <a:t>• Small/occluded cigarettes limit recall (0.634).</a:t>
            </a:r>
          </a:p>
          <a:p xmlns:a="http://schemas.openxmlformats.org/drawingml/2006/main">
            <a:pPr marL="18" indent="-10" algn="l">
              <a:lnSpc>
                <a:spcPct val="110000"/>
              </a:lnSpc>
              <a:spcAft>
                <a:spcPts val="7"/>
              </a:spcAft>
              <a:buNone/>
              <a:defRPr sz="1215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15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rPr>
              <a:t>• Flame AP50–95 (0.360) shows localisation error.</a:t>
            </a:r>
          </a:p>
          <a:p xmlns:a="http://schemas.openxmlformats.org/drawingml/2006/main">
            <a:pPr marL="18" indent="-10" algn="l">
              <a:lnSpc>
                <a:spcPct val="110000"/>
              </a:lnSpc>
              <a:spcAft>
                <a:spcPts val="7"/>
              </a:spcAft>
              <a:buNone/>
              <a:defRPr sz="1215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15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rPr>
              <a:t>• Missed targets dominate cross-class confusion.</a:t>
            </a:r>
          </a:p>
          <a:p xmlns:a="http://schemas.openxmlformats.org/drawingml/2006/main">
            <a:pPr marL="18" indent="-10" algn="l">
              <a:lnSpc>
                <a:spcPct val="110000"/>
              </a:lnSpc>
              <a:spcAft>
                <a:spcPts val="7"/>
              </a:spcAft>
              <a:buNone/>
              <a:defRPr sz="1275">
                <a:solidFill>
                  <a:srgbClr val="1F24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>
                <a:solidFill>
                  <a:srgbClr val="1F2428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pPr marL="18" indent="-10" algn="l">
              <a:lnSpc>
                <a:spcPct val="110000"/>
              </a:lnSpc>
              <a:spcAft>
                <a:spcPts val="7"/>
              </a:spcAft>
              <a:buNone/>
              <a:defRPr sz="1215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15" b="1">
                <a:solidFill>
                  <a:srgbClr val="8E1F35"/>
                </a:solidFill>
                <a:latin typeface="Times New Roman"/>
                <a:ea typeface="Times New Roman"/>
                <a:cs typeface="Times New Roman"/>
              </a:rPr>
              <a:t>DECISION</a:t>
            </a:r>
          </a:p>
          <a:p xmlns:a="http://schemas.openxmlformats.org/drawingml/2006/main">
            <a:pPr marL="18" indent="-10" algn="l">
              <a:lnSpc>
                <a:spcPct val="110000"/>
              </a:lnSpc>
              <a:spcAft>
                <a:spcPts val="7"/>
              </a:spcAft>
              <a:buNone/>
              <a:defRPr sz="1215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15">
                <a:solidFill>
                  <a:srgbClr val="34424F"/>
                </a:solidFill>
                <a:latin typeface="Times New Roman"/>
                <a:ea typeface="Times New Roman"/>
                <a:cs typeface="Times New Roman"/>
              </a:rPr>
              <a:t>Promising for human-verified early alerts; not ready for safety-critical autonomy until calibrated and validated temporally in unseen buildings.</a:t>
            </a:r>
          </a:p>
        </p:txBody>
      </p:sp>
      <p:sp>
        <p:nvSpPr>
          <p:cNvPr id="3175" name="section-VI-References">
            <a:extLst xmlns:a="http://schemas.openxmlformats.org/drawingml/2006/main">
              <a:ext uri="{FF2B5EF4-FFF2-40B4-BE49-F238E27FC236}">
                <a16:creationId xmlns:a16="http://schemas.microsoft.com/office/drawing/2014/main" id="{1697A5AD-680A-44F3-A7B6-2D2FB6F30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4001750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30" b="1" i="0">
                <a:solidFill>
                  <a:srgbClr val="8E1F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30" b="1" i="0">
                <a:solidFill>
                  <a:srgbClr val="8E1F35"/>
                </a:solidFill>
                <a:latin typeface="Times New Roman"/>
                <a:ea typeface="Times New Roman"/>
                <a:cs typeface="Times New Roman"/>
              </a:rPr>
              <a:t>VI. References</a:t>
            </a:r>
          </a:p>
        </p:txBody>
      </p:sp>
      <p:sp>
        <p:nvSpPr>
          <p:cNvPr id="3176" name="section-rule-VI">
            <a:extLst xmlns:a="http://schemas.openxmlformats.org/drawingml/2006/main">
              <a:ext uri="{FF2B5EF4-FFF2-40B4-BE49-F238E27FC236}">
                <a16:creationId xmlns:a16="http://schemas.microsoft.com/office/drawing/2014/main" id="{92D8E987-6BEE-4DCE-8D33-C07E8B37A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4344650"/>
            <a:ext cx="3086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9B77"/>
            </a:solidFill>
            <a:prstDash val="solid"/>
          </a:ln>
        </p:spPr>
      </p:sp>
      <p:sp>
        <p:nvSpPr>
          <p:cNvPr id="3177" name="references-copy">
            <a:extLst xmlns:a="http://schemas.openxmlformats.org/drawingml/2006/main">
              <a:ext uri="{FF2B5EF4-FFF2-40B4-BE49-F238E27FC236}">
                <a16:creationId xmlns:a16="http://schemas.microsoft.com/office/drawing/2014/main" id="{D4AABD3D-C4E6-4E96-AD16-092A761C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4420850"/>
            <a:ext cx="3086100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63" b="0" i="0">
                <a:solidFill>
                  <a:srgbClr val="6572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3" b="0" i="0">
                <a:solidFill>
                  <a:srgbClr val="65727D"/>
                </a:solidFill>
                <a:latin typeface="Times New Roman"/>
                <a:ea typeface="Times New Roman"/>
                <a:cs typeface="Times New Roman"/>
              </a:rPr>
              <a:t>[1] Jocher, G. et al. (2020). ultralytics/yolov5. Zenodo.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163" b="0" i="0">
                <a:solidFill>
                  <a:srgbClr val="6572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3" b="0" i="0">
                <a:solidFill>
                  <a:srgbClr val="65727D"/>
                </a:solidFill>
                <a:latin typeface="Times New Roman"/>
                <a:ea typeface="Times New Roman"/>
                <a:cs typeface="Times New Roman"/>
              </a:rPr>
              <a:t>[2] URIS Progress Report P0053535 (2025).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163" b="0" i="0">
                <a:solidFill>
                  <a:srgbClr val="6572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3" b="0" i="0">
                <a:solidFill>
                  <a:srgbClr val="65727D"/>
                </a:solidFill>
                <a:latin typeface="Times New Roman"/>
                <a:ea typeface="Times New Roman"/>
                <a:cs typeface="Times New Roman"/>
              </a:rPr>
              <a:t>[3] Leakage-safe audit and 45-epoch clean experiment (11 Aug 2026).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163" b="0" i="0">
                <a:solidFill>
                  <a:srgbClr val="6572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3" b="0" i="0">
                <a:solidFill>
                  <a:srgbClr val="65727D"/>
                </a:solidFill>
                <a:latin typeface="Times New Roman"/>
                <a:ea typeface="Times New Roman"/>
                <a:cs typeface="Times New Roman"/>
              </a:rPr>
              <a:t>[4] Independent evaluations: baseline_clean_test; full_clean_test.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163" b="0" i="0">
                <a:solidFill>
                  <a:srgbClr val="6572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3" b="0" i="0">
                <a:solidFill>
                  <a:srgbClr val="65727D"/>
                </a:solidFill>
                <a:latin typeface="Times New Roman"/>
                <a:ea typeface="Times New Roman"/>
                <a:cs typeface="Times New Roman"/>
              </a:rPr>
              <a:t>[5] github.com/Llleeeo/Smoke-and-Fire-detection-model-and-implementation-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163" b="0" i="0">
                <a:solidFill>
                  <a:srgbClr val="1F24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3" b="0" i="0">
                <a:solidFill>
                  <a:srgbClr val="1F2428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163" b="0" i="0">
                <a:solidFill>
                  <a:srgbClr val="65727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3" b="0" i="0">
                <a:solidFill>
                  <a:srgbClr val="65727D"/>
                </a:solidFill>
                <a:latin typeface="Times New Roman"/>
                <a:ea typeface="Times New Roman"/>
                <a:cs typeface="Times New Roman"/>
              </a:rPr>
              <a:t>Headline results use the independent test unless marked legacy val*. Full provenance is embedded in the PowerPoint notes.</a:t>
            </a:r>
          </a:p>
        </p:txBody>
      </p:sp>
    </p:spTree>
    <p:extLst>
      <p:ext uri="{BB962C8B-B14F-4D97-AF65-F5344CB8AC3E}">
        <p14:creationId xmlns:p14="http://schemas.microsoft.com/office/powerpoint/2010/main" val="325824664"/>
      </p:ext>
    </p:extLst>
  </p:cSld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2026-08-13T10:43:11.9190000Z</dcterms:created>
  <dcterms:modified xsi:type="dcterms:W3CDTF">2026-08-13T10:43:11.9190000Z</dcterms:modified>
</coreProperties>
</file>