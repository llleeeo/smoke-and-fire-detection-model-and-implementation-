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2aa7595e614c6b" /><Relationship Type="http://schemas.openxmlformats.org/officeDocument/2006/relationships/extended-properties" Target="/docProps/app.xml" Id="Rfe155809012b41a5" /><Relationship Type="http://schemas.openxmlformats.org/officeDocument/2006/relationships/officeDocument" Target="/ppt/presentation.xml" Id="R3590198a495745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08e36360354d2b"/>
  </p:sldMasterIdLst>
  <p:notesMasterIdLst>
    <p:notesMasterId xmlns:r="http://schemas.openxmlformats.org/officeDocument/2006/relationships" r:id="Re924e34f74d2454d"/>
  </p:notesMasterIdLst>
  <p:sldIdLst>
    <p:sldId xmlns:r="http://schemas.openxmlformats.org/officeDocument/2006/relationships" id="256" r:id="R9aae0de6ade84bb1"/>
  </p:sldIdLst>
  <p:sldSz cx="10287000" cy="1828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7fe9b23bcb445e" /><Relationship Type="http://schemas.openxmlformats.org/officeDocument/2006/relationships/slideMaster" Target="/ppt/slideMasters/slideMaster1.xml" Id="R8108e36360354d2b" /><Relationship Type="http://schemas.openxmlformats.org/officeDocument/2006/relationships/notesMaster" Target="/ppt/notesMasters/notesMaster1.xml" Id="Re924e34f74d2454d" /><Relationship Type="http://schemas.openxmlformats.org/officeDocument/2006/relationships/presProps" Target="/ppt/presProps.xml" Id="R08c36af6a5f9424b" /><Relationship Type="http://schemas.openxmlformats.org/officeDocument/2006/relationships/viewProps" Target="/ppt/viewProps.xml" Id="R9e1e3cf5990343c8" /><Relationship Type="http://schemas.openxmlformats.org/officeDocument/2006/relationships/tableStyles" Target="/ppt/tableStyles.xml" Id="Re8dfe89349364a5d" /><Relationship Type="http://schemas.openxmlformats.org/officeDocument/2006/relationships/slide" Target="/ppt/slides/slide1.xml" Id="R9aae0de6ade84b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95910031d04d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3fe437ef2142d1" /><Relationship Type="http://schemas.openxmlformats.org/officeDocument/2006/relationships/notesMaster" Target="/ppt/notesMasters/notesMaster1.xml" Id="R1625590b5b6343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/Users/littleblueleo/Library/Containers/com.tencent.xinWeChat/Data/Documents/xwechat_files/wxid_th27ayixjr522_1e18/msg/file/2026-07/E-poster Guideline.pdf (mandatory format and required sections)</a:t>
            </a:r>
          </a:p>
          <a:p xmlns:a="http://schemas.openxmlformats.org/drawingml/2006/main">
            <a:r>
              <a:t>- /Users/littleblueleo/Downloads/Eposter.pptx (official template structure and PolyU / Graduate School / CURI logos)</a:t>
            </a:r>
          </a:p>
          <a:p xmlns:a="http://schemas.openxmlformats.org/drawingml/2006/main">
            <a:r>
              <a:t>- /Users/littleblueleo/Documents/ChatGPT/URIS/docs/Undergraduate Research and Innovation Scheme.pdf (registered title, project identity, objectives and context)</a:t>
            </a:r>
          </a:p>
          <a:p xmlns:a="http://schemas.openxmlformats.org/drawingml/2006/main">
            <a:r>
              <a:t>- /Users/littleblueleo/Documents/ChatGPT/URIS/training/leakage_safe_yolov5/EXPERIMENT_RESULTS.md (dataset, test metrics, class metrics, timing and resource use)</a:t>
            </a:r>
          </a:p>
          <a:p xmlns:a="http://schemas.openxmlformats.org/drawingml/2006/main">
            <a:r>
              <a:t>- /Users/littleblueleo/Documents/ChatGPT/URIS/training/leakage_safe_yolov5/audit/verification.json (zero cross-split overlaps)</a:t>
            </a:r>
          </a:p>
          <a:p xmlns:a="http://schemas.openxmlformats.org/drawingml/2006/main">
            <a:r>
              <a:t>- /Users/littleblueleo/Documents/ChatGPT/URIS/training/leakage_safe_yolov5/original_model_reference/results.csv (legacy validation artifact)</a:t>
            </a:r>
          </a:p>
          <a:p xmlns:a="http://schemas.openxmlformats.org/drawingml/2006/main">
            <a:r>
              <a:t>- /Users/littleblueleo/Documents/ChatGPT/URIS/training/leakage_safe_yolov5/runs/full_clean_45e/results.csv and results.png (training trajectory)</a:t>
            </a:r>
          </a:p>
          <a:p xmlns:a="http://schemas.openxmlformats.org/drawingml/2006/main">
            <a:r>
              <a:t>- /Users/littleblueleo/Documents/ChatGPT/URIS/training/leakage_safe_yolov5/runs/full_clean_test/ (independent evaluation and confusion matrix)</a:t>
            </a:r>
          </a:p>
          <a:p xmlns:a="http://schemas.openxmlformats.org/drawingml/2006/main">
            <a:r>
              <a:t>- /Users/littleblueleo/Documents/ChatGPT/URIS/training/leakage_safe_yolov5/runs/full_clean_inference/ (representative inference)</a:t>
            </a:r>
          </a:p>
          <a:p xmlns:a="http://schemas.openxmlformats.org/drawingml/2006/main">
            <a:r>
              <a:t>- https://github.com/Llleeeo/Smoke-and-Fire-detection-model-and-implementation- (repository)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1b9fc35fd4d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8a8af87c294c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ecece2345048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8ab1ad55f44a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0d8ca5b0594a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0f6045264246b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7424be3f743c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5221dfa745489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c9c09c440d4f9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ff0288ef13430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9ed8c9fe3b47c4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B0E61E5-3690-4C30-905F-EC5FB13B306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71072" y="5681307"/>
            <a:ext cx="8744857" cy="392000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57CAB2E-0C4D-49C0-BEB5-3DAAD3E1D7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151" y="10362739"/>
            <a:ext cx="7200698" cy="467452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569B4BA-D12D-EADB-FF47-F652FEA004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8549845-A3CF-F34B-5890-452FC2DCE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0D9147A-4738-581A-B338-BE7CC2A8F4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A94C02C-6C6F-4672-BB47-81B34642F58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B0437D9-3C28-458C-A004-4BE1CC89B3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0CBE8F6-0219-4668-AD14-EBE9BEFFBCC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89E8EC-CF35-6471-A933-A052672760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ED49CD6-786C-8B32-21C1-86CC92A705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E9E7069-0566-A400-863E-851DC116F4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BB2995F8-FBBA-4B83-AF3D-A25A322E05D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AF68630-8E45-4AB7-9F99-A60AE5B5A8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397" y="11751964"/>
            <a:ext cx="8743850" cy="3632028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C5DF05B-53C3-4AC1-8D26-5A47156F9D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2397" y="7751320"/>
            <a:ext cx="8743850" cy="4000644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F4E92A5-EE62-59B8-2016-C6C711AED3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F87A960-D44C-2460-FC6A-E1B4FBCB4A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BFEE323-F3AA-BC90-1670-BBDA5D8F5B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CAA65B32-23E6-4537-BA05-01145709B79C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F6ACC8-8627-4C02-8B9C-4927C17180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21E3807-AD9F-4CD9-824E-D8A08A82E0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71072" y="5281588"/>
            <a:ext cx="4324048" cy="1097441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A4A9A75-8AD4-4BF5-8E4D-38DFD52B62C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191881" y="5281588"/>
            <a:ext cx="4324048" cy="1097441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7D3DA07-CEFA-7F96-5E17-251C6670E4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FA3160D-0D4C-7374-CC58-56C0386F91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733CAA9-433C-C1C0-A31A-F1D5C30D41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6B250416-842C-4800-BEBE-B638DA2892A0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BD7D18F-9D34-4320-A9CF-212B82184A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048" y="732626"/>
            <a:ext cx="9258905" cy="3048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CCBBEA0-AD2A-4B7F-B6D6-014A212C60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048" y="4093950"/>
            <a:ext cx="4545794" cy="1706005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7C1B647-6E02-4811-8246-64E5131AC3B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14048" y="5799955"/>
            <a:ext cx="4545794" cy="1053668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8122728-A2BE-4D35-9D4D-4EE216D3A0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226151" y="4093950"/>
            <a:ext cx="4546801" cy="1706005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43DB5ED-BF7B-4A83-9104-A7FD2E57C08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226151" y="5799955"/>
            <a:ext cx="4546801" cy="1053668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968AB9D-35D1-7A4D-37E0-00007510F7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8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093F23C-16E8-9E79-73D7-E39C8DBF21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A553D68-D2EB-2B45-34F3-CD151617C6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2EB3A5B2-3AF0-4070-ACF6-40695206470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E16641-C07D-48A3-9140-86B8A0DB9E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DBCB88-66B4-87E4-9CEB-CD12529007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5375880-6E75-808F-BAC1-4C5F2B374D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F918BCD-0F83-7CF0-5575-AEC7CFD68C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F38E4B8C-ADC2-4445-BDE1-625BA4D9AB81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BFB1556-0B09-FB41-0A50-8D1FE71D16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CA373B-9E57-A6CD-4254-5B36B34A1B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CA62610-B8D4-4DA8-4FD0-E5929DC32D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B32F88D-A614-4ABB-BAB5-B9A7514858E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F85CC44-7B07-46E5-92C0-20A2914FCB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048" y="728018"/>
            <a:ext cx="3384651" cy="3098685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048AF14-0D7C-41DD-9622-C92AADD4EF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21667" y="728018"/>
            <a:ext cx="5751286" cy="1560861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50D3966-EB67-4FA7-947C-348622AF74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14048" y="3826703"/>
            <a:ext cx="3384651" cy="125099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32C0D30-ED7F-AFE7-D54D-EF77ABFD29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1A63187-1EF6-2357-7E78-596DDC8CE6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8C22164-1C45-8141-E80B-B343FD6909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950C17C0-1843-4F8D-9A29-2DA1BDE1906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A099263-4106-4C9D-9EE1-7E74D99931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5873" y="12801370"/>
            <a:ext cx="6172603" cy="1511329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35F4407-8A90-4AD4-965E-6AFE32A2C15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015873" y="1634586"/>
            <a:ext cx="6172603" cy="1097210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C18F59A-88D2-4397-934B-4BB6EC8F13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015873" y="14312699"/>
            <a:ext cx="6172603" cy="214604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5B7D213-F753-44BF-F67F-BD511ECAA3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4F8E63-1D77-B2C7-3CC8-268F026110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0D2CF73-2FB2-6EFD-4F4C-0A8F8EEA2D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81F93257-9A5D-4BC1-A02A-2E2B2B0F04FA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BD3F283-893A-48F1-AA3C-4FFB5AB1ED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F72A245-3A50-410F-AC98-530EA1AF06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306A0B9-1B93-024F-4D9C-D7F873FA46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F99C9B3-68C4-906F-5EE3-006EB227F0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E961DC8-9EB4-6E92-EB72-B5957F8327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3795D2F8-0C8D-4DF0-8054-7D335D84CA10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8BB7C3D-0C54-4BD6-B941-41FDAD559C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29714" y="1625370"/>
            <a:ext cx="2186215" cy="1463063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7ABC7C0-3F46-46B4-AC57-174A9AC734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072" y="1625370"/>
            <a:ext cx="6461881" cy="1463063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0D6CF31-4110-8CA6-2B39-D04322C9FC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FD15E5E-F31B-1FBE-A688-7E52FA362B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D8F0A64-D37C-467E-B565-79061E6C04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7844C7E7-FB32-4B0D-AC29-FB8A08F11552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e06618eb2441c3" /><Relationship Type="http://schemas.openxmlformats.org/officeDocument/2006/relationships/slideLayout" Target="/ppt/slideLayouts/slideLayout1.xml" Id="Rf897e8d2f49241e5" /><Relationship Type="http://schemas.openxmlformats.org/officeDocument/2006/relationships/slideLayout" Target="/ppt/slideLayouts/slideLayout2.xml" Id="Rb99ce71f01a040c3" /><Relationship Type="http://schemas.openxmlformats.org/officeDocument/2006/relationships/slideLayout" Target="/ppt/slideLayouts/slideLayout3.xml" Id="R4c1491e256454b4c" /><Relationship Type="http://schemas.openxmlformats.org/officeDocument/2006/relationships/slideLayout" Target="/ppt/slideLayouts/slideLayout4.xml" Id="Rcc88ef31289f4613" /><Relationship Type="http://schemas.openxmlformats.org/officeDocument/2006/relationships/slideLayout" Target="/ppt/slideLayouts/slideLayout5.xml" Id="Re8d6640189804695" /><Relationship Type="http://schemas.openxmlformats.org/officeDocument/2006/relationships/slideLayout" Target="/ppt/slideLayouts/slideLayout6.xml" Id="R7c55b969330f439b" /><Relationship Type="http://schemas.openxmlformats.org/officeDocument/2006/relationships/slideLayout" Target="/ppt/slideLayouts/slideLayout7.xml" Id="R1eebbbe13307428d" /><Relationship Type="http://schemas.openxmlformats.org/officeDocument/2006/relationships/slideLayout" Target="/ppt/slideLayouts/slideLayout8.xml" Id="R35140635a4ce4fb2" /><Relationship Type="http://schemas.openxmlformats.org/officeDocument/2006/relationships/slideLayout" Target="/ppt/slideLayouts/slideLayout9.xml" Id="R2e9388ad88d24c2d" /><Relationship Type="http://schemas.openxmlformats.org/officeDocument/2006/relationships/slideLayout" Target="/ppt/slideLayouts/slideLayout10.xml" Id="R3770dcb189444313" /><Relationship Type="http://schemas.openxmlformats.org/officeDocument/2006/relationships/slideLayout" Target="/ppt/slideLayouts/slideLayout11.xml" Id="Re04a387d669947b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2816E4-7208-88E6-94D8-107C671981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072" y="1625370"/>
            <a:ext cx="8744857" cy="3049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222354" tIns="111176" rIns="222354" bIns="111176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6457412-811A-8C1D-E0E6-17F7142622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072" y="5281588"/>
            <a:ext cx="8744857" cy="10974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222354" tIns="111176" rIns="222354" bIns="111176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28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C80CE60-035C-3D07-2828-443D8DCE31D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71072" y="16662631"/>
            <a:ext cx="2143881" cy="1218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222354" tIns="111176" rIns="222354" bIns="111176" anchor="t"/>
          <a:lstStyle xmlns:a="http://schemas.openxmlformats.org/drawingml/2006/main">
            <a:lvl1pPr>
              <a:buNone/>
              <a:defRPr sz="3400"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029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6696D2A-107F-EB9A-90F1-F0B0CC16FF0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514675" y="16662631"/>
            <a:ext cx="3257651" cy="1218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222354" tIns="111176" rIns="222354" bIns="111176" anchor="t"/>
          <a:lstStyle xmlns:a="http://schemas.openxmlformats.org/drawingml/2006/main">
            <a:lvl1pPr algn="ctr">
              <a:buNone/>
              <a:defRPr sz="3400"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03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7978632-C41E-4450-538D-6B9C0A02508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372048" y="16662631"/>
            <a:ext cx="2143881" cy="1218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222354" tIns="111176" rIns="222354" bIns="111176" anchor="t"/>
          <a:lstStyle xmlns:a="http://schemas.openxmlformats.org/drawingml/2006/main">
            <a:lvl1pPr algn="r">
              <a:buNone/>
              <a:defRPr sz="3400"/>
            </a:lvl1pPr>
          </a:lstStyle>
          <a:p xmlns:a="http://schemas.openxmlformats.org/drawingml/2006/main">
            <a:pPr>
              <a:buNone/>
            </a:pPr>
            <a:fld id="{AA27D613-0FDF-4AED-822C-DB9F6AEDE49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97e8d2f49241e5"/>
    <p:sldLayoutId xmlns:r="http://schemas.openxmlformats.org/officeDocument/2006/relationships" id="2147483650" r:id="Rb99ce71f01a040c3"/>
    <p:sldLayoutId xmlns:r="http://schemas.openxmlformats.org/officeDocument/2006/relationships" id="2147483651" r:id="R4c1491e256454b4c"/>
    <p:sldLayoutId xmlns:r="http://schemas.openxmlformats.org/officeDocument/2006/relationships" id="2147483652" r:id="Rcc88ef31289f4613"/>
    <p:sldLayoutId xmlns:r="http://schemas.openxmlformats.org/officeDocument/2006/relationships" id="2147483653" r:id="Re8d6640189804695"/>
    <p:sldLayoutId xmlns:r="http://schemas.openxmlformats.org/officeDocument/2006/relationships" id="2147483654" r:id="R7c55b969330f439b"/>
    <p:sldLayoutId xmlns:r="http://schemas.openxmlformats.org/officeDocument/2006/relationships" id="2147483655" r:id="R1eebbbe13307428d"/>
    <p:sldLayoutId xmlns:r="http://schemas.openxmlformats.org/officeDocument/2006/relationships" id="2147483656" r:id="R35140635a4ce4fb2"/>
    <p:sldLayoutId xmlns:r="http://schemas.openxmlformats.org/officeDocument/2006/relationships" id="2147483657" r:id="R2e9388ad88d24c2d"/>
    <p:sldLayoutId xmlns:r="http://schemas.openxmlformats.org/officeDocument/2006/relationships" id="2147483658" r:id="R3770dcb189444313"/>
    <p:sldLayoutId xmlns:r="http://schemas.openxmlformats.org/officeDocument/2006/relationships" id="2147483659" r:id="Re04a387d669947bd"/>
  </p:sldLayoutIdLst>
  <p:txStyles>
    <p:titleStyle>
      <a:lvl1pPr xmlns:a="http://schemas.openxmlformats.org/drawingml/2006/main" algn="ctr" defTabSz="2224088">
        <a:spcBef>
          <a:spcPct val="0"/>
        </a:spcBef>
        <a:spcAft>
          <a:spcPct val="0"/>
        </a:spcAft>
        <a:buNone/>
        <a:defRPr sz="107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2224088">
        <a:spcBef>
          <a:spcPct val="0"/>
        </a:spcBef>
        <a:spcAft>
          <a:spcPct val="0"/>
        </a:spcAft>
        <a:buNone/>
        <a:defRPr sz="10700">
          <a:solidFill>
            <a:schemeClr val="tx2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algn="ctr" defTabSz="2224088">
        <a:spcBef>
          <a:spcPct val="0"/>
        </a:spcBef>
        <a:spcAft>
          <a:spcPct val="0"/>
        </a:spcAft>
        <a:buNone/>
        <a:defRPr sz="10700">
          <a:solidFill>
            <a:schemeClr val="tx2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algn="ctr" defTabSz="2224088">
        <a:spcBef>
          <a:spcPct val="0"/>
        </a:spcBef>
        <a:spcAft>
          <a:spcPct val="0"/>
        </a:spcAft>
        <a:buNone/>
        <a:defRPr sz="10700">
          <a:solidFill>
            <a:schemeClr val="tx2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algn="ctr" defTabSz="2224088">
        <a:spcBef>
          <a:spcPct val="0"/>
        </a:spcBef>
        <a:spcAft>
          <a:spcPct val="0"/>
        </a:spcAft>
        <a:buNone/>
        <a:defRPr sz="10700">
          <a:solidFill>
            <a:schemeClr val="tx2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457200" algn="ctr" defTabSz="2224088">
        <a:spcBef>
          <a:spcPct val="0"/>
        </a:spcBef>
        <a:spcAft>
          <a:spcPct val="0"/>
        </a:spcAft>
        <a:buNone/>
        <a:defRPr sz="10700">
          <a:solidFill>
            <a:schemeClr val="tx2"/>
          </a:solidFill>
          <a:latin typeface="Times New Roman"/>
          <a:ea typeface="Times New Roman"/>
          <a:cs typeface="Times New Roman"/>
        </a:defRPr>
      </a:lvl6pPr>
      <a:lvl7pPr xmlns:a="http://schemas.openxmlformats.org/drawingml/2006/main" marL="914400" algn="ctr" defTabSz="2224088">
        <a:spcBef>
          <a:spcPct val="0"/>
        </a:spcBef>
        <a:spcAft>
          <a:spcPct val="0"/>
        </a:spcAft>
        <a:buNone/>
        <a:defRPr sz="10700">
          <a:solidFill>
            <a:schemeClr val="tx2"/>
          </a:solidFill>
          <a:latin typeface="Times New Roman"/>
          <a:ea typeface="Times New Roman"/>
          <a:cs typeface="Times New Roman"/>
        </a:defRPr>
      </a:lvl7pPr>
      <a:lvl8pPr xmlns:a="http://schemas.openxmlformats.org/drawingml/2006/main" marL="1371600" algn="ctr" defTabSz="2224088">
        <a:spcBef>
          <a:spcPct val="0"/>
        </a:spcBef>
        <a:spcAft>
          <a:spcPct val="0"/>
        </a:spcAft>
        <a:buNone/>
        <a:defRPr sz="10700">
          <a:solidFill>
            <a:schemeClr val="tx2"/>
          </a:solidFill>
          <a:latin typeface="Times New Roman"/>
          <a:ea typeface="Times New Roman"/>
          <a:cs typeface="Times New Roman"/>
        </a:defRPr>
      </a:lvl8pPr>
      <a:lvl9pPr xmlns:a="http://schemas.openxmlformats.org/drawingml/2006/main" marL="1828800" algn="ctr" defTabSz="2224088">
        <a:spcBef>
          <a:spcPct val="0"/>
        </a:spcBef>
        <a:spcAft>
          <a:spcPct val="0"/>
        </a:spcAft>
        <a:buNone/>
        <a:defRPr sz="10700">
          <a:solidFill>
            <a:schemeClr val="tx2"/>
          </a:solidFill>
          <a:latin typeface="Times New Roman"/>
          <a:ea typeface="Times New Roman"/>
          <a:cs typeface="Times New Roman"/>
        </a:defRPr>
      </a:lvl9pPr>
    </p:titleStyle>
    <p:bodyStyle>
      <a:lvl1pPr xmlns:a="http://schemas.openxmlformats.org/drawingml/2006/main" marL="835025" indent="-835025" algn="l" defTabSz="2224088">
        <a:spcBef>
          <a:spcPct val="20000"/>
        </a:spcBef>
        <a:spcAft>
          <a:spcPct val="0"/>
        </a:spcAft>
        <a:buChar char="•"/>
        <a:defRPr sz="7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806575" indent="-695325" algn="l" defTabSz="2224088">
        <a:spcBef>
          <a:spcPct val="20000"/>
        </a:spcBef>
        <a:spcAft>
          <a:spcPct val="0"/>
        </a:spcAft>
        <a:buChar char="–"/>
        <a:defRPr sz="6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2779713" indent="-555625" algn="l" defTabSz="2224088">
        <a:spcBef>
          <a:spcPct val="20000"/>
        </a:spcBef>
        <a:spcAft>
          <a:spcPct val="0"/>
        </a:spcAft>
        <a:buChar char="•"/>
        <a:defRPr sz="59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3892550" indent="-557213" algn="l" defTabSz="2224088">
        <a:spcBef>
          <a:spcPct val="20000"/>
        </a:spcBef>
        <a:spcAft>
          <a:spcPct val="0"/>
        </a:spcAft>
        <a:buChar char="–"/>
        <a:defRPr sz="49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003800" indent="-557213" algn="l" defTabSz="2224088">
        <a:spcBef>
          <a:spcPct val="20000"/>
        </a:spcBef>
        <a:spcAft>
          <a:spcPct val="0"/>
        </a:spcAft>
        <a:buChar char="»"/>
        <a:defRPr sz="49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5461000" indent="-557213" algn="l" defTabSz="2224088">
        <a:spcBef>
          <a:spcPct val="20000"/>
        </a:spcBef>
        <a:spcAft>
          <a:spcPct val="0"/>
        </a:spcAft>
        <a:buChar char="»"/>
        <a:defRPr sz="49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5918200" indent="-557213" algn="l" defTabSz="2224088">
        <a:spcBef>
          <a:spcPct val="20000"/>
        </a:spcBef>
        <a:spcAft>
          <a:spcPct val="0"/>
        </a:spcAft>
        <a:buChar char="»"/>
        <a:defRPr sz="49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6375400" indent="-557213" algn="l" defTabSz="2224088">
        <a:spcBef>
          <a:spcPct val="20000"/>
        </a:spcBef>
        <a:spcAft>
          <a:spcPct val="0"/>
        </a:spcAft>
        <a:buChar char="»"/>
        <a:defRPr sz="49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6832600" indent="-557213" algn="l" defTabSz="2224088">
        <a:spcBef>
          <a:spcPct val="20000"/>
        </a:spcBef>
        <a:spcAft>
          <a:spcPct val="0"/>
        </a:spcAft>
        <a:buChar char="»"/>
        <a:defRPr sz="49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ce0b05c502f4a88" /><Relationship Type="http://schemas.openxmlformats.org/officeDocument/2006/relationships/image" Target="/ppt/media/image.png" Id="Rb41f9a115134451c" /><Relationship Type="http://schemas.openxmlformats.org/officeDocument/2006/relationships/image" Target="/ppt/media/image2.png" Id="Rd99ceedacc4f4a47" /><Relationship Type="http://schemas.openxmlformats.org/officeDocument/2006/relationships/image" Target="/ppt/media/image3.png" Id="Re09fd0ca80cf4178" /><Relationship Type="http://schemas.openxmlformats.org/officeDocument/2006/relationships/image" Target="/ppt/media/image4.png" Id="Re1ebe295d2454b58" /><Relationship Type="http://schemas.openxmlformats.org/officeDocument/2006/relationships/image" Target="/ppt/media/image5.png" Id="Ree944ed5a9a845e4" /><Relationship Type="http://schemas.openxmlformats.org/officeDocument/2006/relationships/notesSlide" Target="/ppt/notesSlides/notesSlide1.xml" Id="Rb834a8a23da841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4C08971-6CE7-5753-907E-0EA7C7AD81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6700" y="1028700"/>
            <a:ext cx="9753600" cy="895350"/>
          </a:xfrm>
        </p:spPr>
        <p:txBody>
          <a:bodyPr xmlns:a="http://schemas.openxmlformats.org/drawingml/2006/main" wrap="squar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288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8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AI Fireguard: An AI-Driven Fire Prevention System</a:t>
            </a:r>
            <a:endParaRPr sz="3000" b="1">
              <a:solidFill>
                <a:schemeClr val="tx1"/>
              </a:solidFill>
            </a:endParaRPr>
          </a:p>
          <a:p xmlns:a="http://schemas.openxmlformats.org/drawingml/2006/main">
            <a:pPr algn="ctr">
              <a:lnSpc>
                <a:spcPct val="94000"/>
              </a:lnSpc>
              <a:buNone/>
              <a:defRPr sz="2288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8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with Advanced Monitoring, Data Analytics and Computer Vision</a:t>
            </a:r>
            <a:endParaRPr sz="3000" b="1">
              <a:solidFill>
                <a:schemeClr val="tx1"/>
              </a:solidFill>
            </a:endParaRPr>
          </a:p>
        </p:txBody>
      </p:sp>
      <p:sp>
        <p:nvSpPr>
          <p:cNvPr id="3097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41DA208-76CB-DAE3-22BC-029970D4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43100"/>
            <a:ext cx="960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9525" rIns="57150" bIns="9525" anchor="ctr">
            <a:noAutofit/>
          </a:bodyPr>
          <a:lstStyle xmlns:a="http://schemas.openxmlformats.org/drawingml/2006/main">
            <a:lvl1pPr defTabSz="2224088">
              <a:spcBef>
                <a:spcPct val="20000"/>
              </a:spcBef>
              <a:buChar char="•"/>
              <a:defRPr sz="7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marL="742950" indent="-285750" defTabSz="2224088">
              <a:spcBef>
                <a:spcPct val="20000"/>
              </a:spcBef>
              <a:buChar char="–"/>
              <a:defRPr sz="6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defTabSz="2224088">
              <a:spcBef>
                <a:spcPct val="20000"/>
              </a:spcBef>
              <a:buChar char="•"/>
              <a:defRPr sz="59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defTabSz="2224088">
              <a:spcBef>
                <a:spcPct val="20000"/>
              </a:spcBef>
              <a:buChar char="–"/>
              <a:defRPr sz="49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defTabSz="2224088">
              <a:spcBef>
                <a:spcPct val="20000"/>
              </a:spcBef>
              <a:buChar char="»"/>
              <a:defRPr sz="49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defTabSz="2224088">
              <a:spcBef>
                <a:spcPct val="20000"/>
              </a:spcBef>
              <a:spcAft>
                <a:spcPct val="0"/>
              </a:spcAft>
              <a:buChar char="»"/>
              <a:defRPr sz="49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defTabSz="2224088">
              <a:spcBef>
                <a:spcPct val="20000"/>
              </a:spcBef>
              <a:spcAft>
                <a:spcPct val="0"/>
              </a:spcAft>
              <a:buChar char="»"/>
              <a:defRPr sz="49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defTabSz="2224088">
              <a:spcBef>
                <a:spcPct val="20000"/>
              </a:spcBef>
              <a:spcAft>
                <a:spcPct val="0"/>
              </a:spcAft>
              <a:buChar char="»"/>
              <a:defRPr sz="49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defTabSz="2224088">
              <a:spcBef>
                <a:spcPct val="20000"/>
              </a:spcBef>
              <a:spcAft>
                <a:spcPct val="0"/>
              </a:spcAft>
              <a:buChar char="»"/>
              <a:defRPr sz="49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ct val="0"/>
              </a:spcBef>
              <a:buFontTx/>
              <a:buNone/>
              <a:defRPr sz="1238" b="1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34424F"/>
                </a:solidFill>
                <a:latin typeface="Arial"/>
                <a:ea typeface="Arial"/>
                <a:cs typeface="Arial"/>
              </a:rPr>
              <a:t>Student: YUAN Haoming | Department: DSAI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ct val="0"/>
              </a:spcBef>
              <a:buFontTx/>
              <a:buNone/>
              <a:defRPr sz="1238" b="1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34424F"/>
                </a:solidFill>
                <a:latin typeface="Arial"/>
                <a:ea typeface="Arial"/>
                <a:cs typeface="Arial"/>
              </a:rPr>
              <a:t>Chief Supervisor: TSANG Yuen Hong | Department: AP | URIS P0053535 | TAG3</a:t>
            </a:r>
            <a:endParaRPr sz="2200" b="1"/>
          </a:p>
        </p:txBody>
      </p:sp>
      <p:sp>
        <p:nvSpPr>
          <p:cNvPr id="3099" name="Text Box 378">
            <a:extLst xmlns:a="http://schemas.openxmlformats.org/drawingml/2006/main">
              <a:ext uri="{FF2B5EF4-FFF2-40B4-BE49-F238E27FC236}">
                <a16:creationId xmlns:a16="http://schemas.microsoft.com/office/drawing/2014/main" id="{C8CA18BD-D030-ACFE-4350-137763A5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7355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defTabSz="460375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marL="742950" indent="-285750" defTabSz="460375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defTabSz="460375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defTabSz="460375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defTabSz="460375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defTabSz="460375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defTabSz="460375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defTabSz="460375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defTabSz="460375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ct val="50000"/>
              </a:spcBef>
              <a:buNone/>
              <a:defRPr sz="1013" b="1">
                <a:solidFill>
                  <a:srgbClr val="65727D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65727D"/>
                </a:solidFill>
                <a:latin typeface="Arial"/>
                <a:ea typeface="Arial"/>
                <a:cs typeface="Arial"/>
              </a:rPr>
              <a:t>23099168D@connect.polyu.hk  |  Research prototype — complements, not replaces, certified fire-safety systems</a:t>
            </a:r>
            <a:endParaRPr sz="1600"/>
          </a:p>
        </p:txBody>
      </p:sp>
      <p:sp>
        <p:nvSpPr>
          <p:cNvPr id="3112" name="Rectangle 7548">
            <a:extLst xmlns:a="http://schemas.openxmlformats.org/drawingml/2006/main">
              <a:ext uri="{FF2B5EF4-FFF2-40B4-BE49-F238E27FC236}">
                <a16:creationId xmlns:a16="http://schemas.microsoft.com/office/drawing/2014/main" id="{16B2E2EF-09B5-3F37-1E7C-C1D824BC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314700"/>
            <a:ext cx="3105150" cy="14249400"/>
          </a:xfrm>
          <a:prstGeom xmlns:a="http://schemas.openxmlformats.org/drawingml/2006/main" prst="roundRect">
            <a:avLst>
              <a:gd name="adj" fmla="val 42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E0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marL="742950" indent="-285750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114" name="Rectangle 7550">
            <a:extLst xmlns:a="http://schemas.openxmlformats.org/drawingml/2006/main">
              <a:ext uri="{FF2B5EF4-FFF2-40B4-BE49-F238E27FC236}">
                <a16:creationId xmlns:a16="http://schemas.microsoft.com/office/drawing/2014/main" id="{2C625523-2568-E594-449C-36C0989D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14700"/>
            <a:ext cx="6610350" cy="14249400"/>
          </a:xfrm>
          <a:prstGeom xmlns:a="http://schemas.openxmlformats.org/drawingml/2006/main" prst="roundRect">
            <a:avLst>
              <a:gd name="adj" fmla="val 201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E0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anchor="ctr"/>
          <a:lstStyle xmlns:a="http://schemas.openxmlformats.org/drawingml/2006/main">
            <a:lvl1pPr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marL="742950" indent="-285750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75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endParaRPr/>
          </a:p>
        </p:txBody>
      </p:sp>
      <p:pic>
        <p:nvPicPr>
          <p:cNvPr id="318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f9a11513445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303" y="379764"/>
            <a:ext cx="3275956" cy="627332"/>
          </a:xfrm>
          <a:prstGeom xmlns:a="http://schemas.openxmlformats.org/drawingml/2006/main" prst="rect">
            <a:avLst/>
          </a:prstGeom>
        </p:spPr>
      </p:pic>
      <p:pic>
        <p:nvPicPr>
          <p:cNvPr id="318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ceedacc4f4a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0692" y="300245"/>
            <a:ext cx="2152968" cy="634843"/>
          </a:xfrm>
          <a:prstGeom xmlns:a="http://schemas.openxmlformats.org/drawingml/2006/main" prst="rect">
            <a:avLst/>
          </a:prstGeom>
        </p:spPr>
      </p:pic>
      <p:pic>
        <p:nvPicPr>
          <p:cNvPr id="319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fd0ca80cf41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6747" y="345287"/>
            <a:ext cx="3097530" cy="656985"/>
          </a:xfrm>
          <a:prstGeom xmlns:a="http://schemas.openxmlformats.org/drawingml/2006/main" prst="rect">
            <a:avLst/>
          </a:prstGeom>
        </p:spPr>
      </p:pic>
      <p:sp>
        <p:nvSpPr>
          <p:cNvPr id="3126" name="section-I-Introduction">
            <a:extLst xmlns:a="http://schemas.openxmlformats.org/drawingml/2006/main">
              <a:ext uri="{FF2B5EF4-FFF2-40B4-BE49-F238E27FC236}">
                <a16:creationId xmlns:a16="http://schemas.microsoft.com/office/drawing/2014/main" id="{8A357269-16BE-417F-BD98-0FFB9228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88" b="1" i="0">
                <a:solidFill>
                  <a:srgbClr val="8E1F35"/>
                </a:solidFill>
                <a:latin typeface="Arial"/>
                <a:ea typeface="Arial"/>
                <a:cs typeface="Arial"/>
              </a:defRPr>
            </a:pPr>
            <a:r>
              <a:rPr sz="1688" b="1" i="0">
                <a:solidFill>
                  <a:srgbClr val="8E1F35"/>
                </a:solidFill>
                <a:latin typeface="Arial"/>
                <a:ea typeface="Arial"/>
                <a:cs typeface="Arial"/>
              </a:rPr>
              <a:t>I. Introduction</a:t>
            </a:r>
          </a:p>
        </p:txBody>
      </p:sp>
      <p:sp>
        <p:nvSpPr>
          <p:cNvPr id="3127" name="section-rule-I">
            <a:extLst xmlns:a="http://schemas.openxmlformats.org/drawingml/2006/main">
              <a:ext uri="{FF2B5EF4-FFF2-40B4-BE49-F238E27FC236}">
                <a16:creationId xmlns:a16="http://schemas.microsoft.com/office/drawing/2014/main" id="{DB1A7123-48ED-4D46-9D94-507B2C41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9B77"/>
            </a:solidFill>
            <a:prstDash val="solid"/>
          </a:ln>
        </p:spPr>
      </p:sp>
      <p:sp>
        <p:nvSpPr>
          <p:cNvPr id="3128" name="introduction-bullets">
            <a:extLst xmlns:a="http://schemas.openxmlformats.org/drawingml/2006/main">
              <a:ext uri="{FF2B5EF4-FFF2-40B4-BE49-F238E27FC236}">
                <a16:creationId xmlns:a16="http://schemas.microsoft.com/office/drawing/2014/main" id="{5C681829-0E25-490F-81C4-4A1AA27E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6"/>
              </a:spcAft>
              <a:buNone/>
              <a:defRPr sz="1065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065">
                <a:solidFill>
                  <a:srgbClr val="34424F"/>
                </a:solidFill>
                <a:latin typeface="Arial"/>
                <a:ea typeface="Arial"/>
                <a:cs typeface="Arial"/>
              </a:rPr>
              <a:t>Discarded cigarettes, nascent flame and delayed smoke can precede serious fires. AI Fireguard investigates whether a compact vision detector can localise these hazards early enough to support human-verified alerts and future response planning.</a:t>
            </a:r>
          </a:p>
        </p:txBody>
      </p:sp>
      <p:sp>
        <p:nvSpPr>
          <p:cNvPr id="3129" name="section-II-Objectives">
            <a:extLst xmlns:a="http://schemas.openxmlformats.org/drawingml/2006/main">
              <a:ext uri="{FF2B5EF4-FFF2-40B4-BE49-F238E27FC236}">
                <a16:creationId xmlns:a16="http://schemas.microsoft.com/office/drawing/2014/main" id="{2BE15148-F748-444D-A795-99B81335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88" b="1" i="0">
                <a:solidFill>
                  <a:srgbClr val="8E1F35"/>
                </a:solidFill>
                <a:latin typeface="Arial"/>
                <a:ea typeface="Arial"/>
                <a:cs typeface="Arial"/>
              </a:defRPr>
            </a:pPr>
            <a:r>
              <a:rPr sz="1688" b="1" i="0">
                <a:solidFill>
                  <a:srgbClr val="8E1F35"/>
                </a:solidFill>
                <a:latin typeface="Arial"/>
                <a:ea typeface="Arial"/>
                <a:cs typeface="Arial"/>
              </a:rPr>
              <a:t>II. Objectives</a:t>
            </a:r>
          </a:p>
        </p:txBody>
      </p:sp>
      <p:sp>
        <p:nvSpPr>
          <p:cNvPr id="3130" name="section-rule-II">
            <a:extLst xmlns:a="http://schemas.openxmlformats.org/drawingml/2006/main">
              <a:ext uri="{FF2B5EF4-FFF2-40B4-BE49-F238E27FC236}">
                <a16:creationId xmlns:a16="http://schemas.microsoft.com/office/drawing/2014/main" id="{663FF687-5FE9-473C-9504-466470E1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0175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9B77"/>
            </a:solidFill>
            <a:prstDash val="solid"/>
          </a:ln>
        </p:spPr>
      </p:sp>
      <p:sp>
        <p:nvSpPr>
          <p:cNvPr id="3131" name="objectives-bullets">
            <a:extLst xmlns:a="http://schemas.openxmlformats.org/drawingml/2006/main">
              <a:ext uri="{FF2B5EF4-FFF2-40B4-BE49-F238E27FC236}">
                <a16:creationId xmlns:a16="http://schemas.microsoft.com/office/drawing/2014/main" id="{CB5C85F6-9558-4C43-990C-921DA9A7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276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8"/>
              </a:spcAft>
              <a:buNone/>
              <a:defRPr sz="1035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34424F"/>
                </a:solidFill>
                <a:latin typeface="Arial"/>
                <a:ea typeface="Arial"/>
                <a:cs typeface="Arial"/>
              </a:rPr>
              <a:t>• Build a clean 3-class YOLOv5 pipeline.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8"/>
              </a:spcAft>
              <a:buNone/>
              <a:defRPr sz="1035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34424F"/>
                </a:solidFill>
                <a:latin typeface="Arial"/>
                <a:ea typeface="Arial"/>
                <a:cs typeface="Arial"/>
              </a:rPr>
              <a:t>• Remove split leakage and label mismatch.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8"/>
              </a:spcAft>
              <a:buNone/>
              <a:defRPr sz="1035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34424F"/>
                </a:solidFill>
                <a:latin typeface="Arial"/>
                <a:ea typeface="Arial"/>
                <a:cs typeface="Arial"/>
              </a:rPr>
              <a:t>• Compare the legacy and retrained checkpoints on one frozen test.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8"/>
              </a:spcAft>
              <a:buNone/>
              <a:defRPr sz="1035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34424F"/>
                </a:solidFill>
                <a:latin typeface="Arial"/>
                <a:ea typeface="Arial"/>
                <a:cs typeface="Arial"/>
              </a:rPr>
              <a:t>• Quantify class errors, speed and local-compute cost.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8"/>
              </a:spcAft>
              <a:buNone/>
              <a:defRPr sz="1035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34424F"/>
                </a:solidFill>
                <a:latin typeface="Arial"/>
                <a:ea typeface="Arial"/>
                <a:cs typeface="Arial"/>
              </a:rPr>
              <a:t>• Define evidence needed before deployment.</a:t>
            </a:r>
          </a:p>
        </p:txBody>
      </p:sp>
      <p:sp>
        <p:nvSpPr>
          <p:cNvPr id="3132" name="section-III-Methodology">
            <a:extLst xmlns:a="http://schemas.openxmlformats.org/drawingml/2006/main">
              <a:ext uri="{FF2B5EF4-FFF2-40B4-BE49-F238E27FC236}">
                <a16:creationId xmlns:a16="http://schemas.microsoft.com/office/drawing/2014/main" id="{A2F041EA-09F1-4ABB-8E02-D4245A51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88" b="1" i="0">
                <a:solidFill>
                  <a:srgbClr val="8E1F35"/>
                </a:solidFill>
                <a:latin typeface="Arial"/>
                <a:ea typeface="Arial"/>
                <a:cs typeface="Arial"/>
              </a:defRPr>
            </a:pPr>
            <a:r>
              <a:rPr sz="1688" b="1" i="0">
                <a:solidFill>
                  <a:srgbClr val="8E1F35"/>
                </a:solidFill>
                <a:latin typeface="Arial"/>
                <a:ea typeface="Arial"/>
                <a:cs typeface="Arial"/>
              </a:rPr>
              <a:t>III. Methodology</a:t>
            </a:r>
          </a:p>
        </p:txBody>
      </p:sp>
      <p:sp>
        <p:nvSpPr>
          <p:cNvPr id="3133" name="section-rule-III">
            <a:extLst xmlns:a="http://schemas.openxmlformats.org/drawingml/2006/main">
              <a:ext uri="{FF2B5EF4-FFF2-40B4-BE49-F238E27FC236}">
                <a16:creationId xmlns:a16="http://schemas.microsoft.com/office/drawing/2014/main" id="{349D510D-9402-4836-A20F-D3861B57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008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9B77"/>
            </a:solidFill>
            <a:prstDash val="solid"/>
          </a:ln>
        </p:spPr>
      </p:sp>
      <p:sp>
        <p:nvSpPr>
          <p:cNvPr id="3134" name="method-flow-spine">
            <a:extLst xmlns:a="http://schemas.openxmlformats.org/drawingml/2006/main">
              <a:ext uri="{FF2B5EF4-FFF2-40B4-BE49-F238E27FC236}">
                <a16:creationId xmlns:a16="http://schemas.microsoft.com/office/drawing/2014/main" id="{A31872D6-1543-4C02-B553-27CA42B3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086600"/>
            <a:ext cx="0" cy="2886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9B77"/>
            </a:solidFill>
            <a:prstDash val="solid"/>
          </a:ln>
        </p:spPr>
      </p:sp>
      <p:sp>
        <p:nvSpPr>
          <p:cNvPr id="3135" name="flow-marker-1">
            <a:extLst xmlns:a="http://schemas.openxmlformats.org/drawingml/2006/main">
              <a:ext uri="{FF2B5EF4-FFF2-40B4-BE49-F238E27FC236}">
                <a16:creationId xmlns:a16="http://schemas.microsoft.com/office/drawing/2014/main" id="{69394FB9-06EA-4C3F-BB92-93479C33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58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B77"/>
          </a:solidFill>
          <a:ln xmlns:a="http://schemas.openxmlformats.org/drawingml/2006/main" w="0">
            <a:solidFill>
              <a:srgbClr val="009B77"/>
            </a:solidFill>
            <a:prstDash val="solid"/>
          </a:ln>
        </p:spPr>
      </p:sp>
      <p:sp>
        <p:nvSpPr>
          <p:cNvPr id="3136" name="flow-number-1">
            <a:extLst xmlns:a="http://schemas.openxmlformats.org/drawingml/2006/main">
              <a:ext uri="{FF2B5EF4-FFF2-40B4-BE49-F238E27FC236}">
                <a16:creationId xmlns:a16="http://schemas.microsoft.com/office/drawing/2014/main" id="{D759B34E-EB88-44F9-9956-1A23E9F6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580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37" name="flow-step-1">
            <a:extLst xmlns:a="http://schemas.openxmlformats.org/drawingml/2006/main">
              <a:ext uri="{FF2B5EF4-FFF2-40B4-BE49-F238E27FC236}">
                <a16:creationId xmlns:a16="http://schemas.microsoft.com/office/drawing/2014/main" id="{234B2AB0-3085-4A86-83D1-E93A6110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15150"/>
            <a:ext cx="23812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B7DED5"/>
            </a:solidFill>
            <a:prstDash val="solid"/>
          </a:ln>
        </p:spPr>
        <p:txBody>
          <a:bodyPr xmlns:a="http://schemas.openxmlformats.org/drawingml/2006/main" wrap="square" lIns="9525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90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Group sources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990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34424F"/>
                </a:solidFill>
                <a:latin typeface="Arial"/>
                <a:ea typeface="Arial"/>
                <a:cs typeface="Arial"/>
              </a:rPr>
              <a:t>Retain background-only negatives</a:t>
            </a:r>
          </a:p>
        </p:txBody>
      </p:sp>
      <p:sp>
        <p:nvSpPr>
          <p:cNvPr id="3138" name="flow-marker-2">
            <a:extLst xmlns:a="http://schemas.openxmlformats.org/drawingml/2006/main">
              <a:ext uri="{FF2B5EF4-FFF2-40B4-BE49-F238E27FC236}">
                <a16:creationId xmlns:a16="http://schemas.microsoft.com/office/drawing/2014/main" id="{9772B184-6503-4CA3-8293-3D8393E7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676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1F35"/>
          </a:solidFill>
          <a:ln xmlns:a="http://schemas.openxmlformats.org/drawingml/2006/main" w="0">
            <a:solidFill>
              <a:srgbClr val="8E1F35"/>
            </a:solidFill>
            <a:prstDash val="solid"/>
          </a:ln>
        </p:spPr>
      </p:sp>
      <p:sp>
        <p:nvSpPr>
          <p:cNvPr id="3139" name="flow-number-2">
            <a:extLst xmlns:a="http://schemas.openxmlformats.org/drawingml/2006/main">
              <a:ext uri="{FF2B5EF4-FFF2-40B4-BE49-F238E27FC236}">
                <a16:creationId xmlns:a16="http://schemas.microsoft.com/office/drawing/2014/main" id="{4E92B812-A19B-408D-903A-95A959CB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676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140" name="flow-step-2">
            <a:extLst xmlns:a="http://schemas.openxmlformats.org/drawingml/2006/main">
              <a:ext uri="{FF2B5EF4-FFF2-40B4-BE49-F238E27FC236}">
                <a16:creationId xmlns:a16="http://schemas.microsoft.com/office/drawing/2014/main" id="{4E6B8482-2C41-4190-B328-CD2C2C2D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524750"/>
            <a:ext cx="23812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BDDF3"/>
            </a:solidFill>
            <a:prstDash val="solid"/>
          </a:ln>
        </p:spPr>
        <p:txBody>
          <a:bodyPr xmlns:a="http://schemas.openxmlformats.org/drawingml/2006/main" wrap="square" lIns="9525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90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Deduplicate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990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34424F"/>
                </a:solidFill>
                <a:latin typeface="Arial"/>
                <a:ea typeface="Arial"/>
                <a:cs typeface="Arial"/>
              </a:rPr>
              <a:t>Source name · SHA-256 · pHash ≤ 4</a:t>
            </a:r>
          </a:p>
        </p:txBody>
      </p:sp>
      <p:sp>
        <p:nvSpPr>
          <p:cNvPr id="3141" name="flow-marker-3">
            <a:extLst xmlns:a="http://schemas.openxmlformats.org/drawingml/2006/main">
              <a:ext uri="{FF2B5EF4-FFF2-40B4-BE49-F238E27FC236}">
                <a16:creationId xmlns:a16="http://schemas.microsoft.com/office/drawing/2014/main" id="{C4A44159-DE56-4711-A6EC-2A0BD65B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772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B77"/>
          </a:solidFill>
          <a:ln xmlns:a="http://schemas.openxmlformats.org/drawingml/2006/main" w="0">
            <a:solidFill>
              <a:srgbClr val="009B77"/>
            </a:solidFill>
            <a:prstDash val="solid"/>
          </a:ln>
        </p:spPr>
      </p:sp>
      <p:sp>
        <p:nvSpPr>
          <p:cNvPr id="3142" name="flow-number-3">
            <a:extLst xmlns:a="http://schemas.openxmlformats.org/drawingml/2006/main">
              <a:ext uri="{FF2B5EF4-FFF2-40B4-BE49-F238E27FC236}">
                <a16:creationId xmlns:a16="http://schemas.microsoft.com/office/drawing/2014/main" id="{58EA3A30-1E03-4524-8152-786A25CD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772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43" name="flow-step-3">
            <a:extLst xmlns:a="http://schemas.openxmlformats.org/drawingml/2006/main">
              <a:ext uri="{FF2B5EF4-FFF2-40B4-BE49-F238E27FC236}">
                <a16:creationId xmlns:a16="http://schemas.microsoft.com/office/drawing/2014/main" id="{4D9037C4-38A4-4A8F-8D98-707F3DB0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34350"/>
            <a:ext cx="23812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B7DED5"/>
            </a:solidFill>
            <a:prstDash val="solid"/>
          </a:ln>
        </p:spPr>
        <p:txBody>
          <a:bodyPr xmlns:a="http://schemas.openxmlformats.org/drawingml/2006/main" wrap="square" lIns="9525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90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Freeze clean split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990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34424F"/>
                </a:solidFill>
                <a:latin typeface="Arial"/>
                <a:ea typeface="Arial"/>
                <a:cs typeface="Arial"/>
              </a:rPr>
              <a:t>1,511 train · 188 val · 188 test</a:t>
            </a:r>
          </a:p>
        </p:txBody>
      </p:sp>
      <p:sp>
        <p:nvSpPr>
          <p:cNvPr id="3144" name="flow-marker-4">
            <a:extLst xmlns:a="http://schemas.openxmlformats.org/drawingml/2006/main">
              <a:ext uri="{FF2B5EF4-FFF2-40B4-BE49-F238E27FC236}">
                <a16:creationId xmlns:a16="http://schemas.microsoft.com/office/drawing/2014/main" id="{AC8CFBD2-71D2-458C-B38C-46FD91B2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8868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1F35"/>
          </a:solidFill>
          <a:ln xmlns:a="http://schemas.openxmlformats.org/drawingml/2006/main" w="0">
            <a:solidFill>
              <a:srgbClr val="8E1F35"/>
            </a:solidFill>
            <a:prstDash val="solid"/>
          </a:ln>
        </p:spPr>
      </p:sp>
      <p:sp>
        <p:nvSpPr>
          <p:cNvPr id="3145" name="flow-number-4">
            <a:extLst xmlns:a="http://schemas.openxmlformats.org/drawingml/2006/main">
              <a:ext uri="{FF2B5EF4-FFF2-40B4-BE49-F238E27FC236}">
                <a16:creationId xmlns:a16="http://schemas.microsoft.com/office/drawing/2014/main" id="{49ABB544-EE1A-4200-9D3F-F2447631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8868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46" name="flow-step-4">
            <a:extLst xmlns:a="http://schemas.openxmlformats.org/drawingml/2006/main">
              <a:ext uri="{FF2B5EF4-FFF2-40B4-BE49-F238E27FC236}">
                <a16:creationId xmlns:a16="http://schemas.microsoft.com/office/drawing/2014/main" id="{0E1BFC88-7BCF-4C51-B681-19AA1366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43950"/>
            <a:ext cx="23812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BDDF3"/>
            </a:solidFill>
            <a:prstDash val="solid"/>
          </a:ln>
        </p:spPr>
        <p:txBody>
          <a:bodyPr xmlns:a="http://schemas.openxmlformats.org/drawingml/2006/main" wrap="square" lIns="9525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90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Fine-tune YOLOv5s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990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34424F"/>
                </a:solidFill>
                <a:latin typeface="Arial"/>
                <a:ea typeface="Arial"/>
                <a:cs typeface="Arial"/>
              </a:rPr>
              <a:t>45 epochs · 640² · batch 8 · MPS</a:t>
            </a:r>
          </a:p>
        </p:txBody>
      </p:sp>
      <p:sp>
        <p:nvSpPr>
          <p:cNvPr id="3147" name="flow-marker-5">
            <a:extLst xmlns:a="http://schemas.openxmlformats.org/drawingml/2006/main">
              <a:ext uri="{FF2B5EF4-FFF2-40B4-BE49-F238E27FC236}">
                <a16:creationId xmlns:a16="http://schemas.microsoft.com/office/drawing/2014/main" id="{6E798242-C352-4717-BA0B-6C9D7496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496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B77"/>
          </a:solidFill>
          <a:ln xmlns:a="http://schemas.openxmlformats.org/drawingml/2006/main" w="0">
            <a:solidFill>
              <a:srgbClr val="009B77"/>
            </a:solidFill>
            <a:prstDash val="solid"/>
          </a:ln>
        </p:spPr>
      </p:sp>
      <p:sp>
        <p:nvSpPr>
          <p:cNvPr id="3148" name="flow-number-5">
            <a:extLst xmlns:a="http://schemas.openxmlformats.org/drawingml/2006/main">
              <a:ext uri="{FF2B5EF4-FFF2-40B4-BE49-F238E27FC236}">
                <a16:creationId xmlns:a16="http://schemas.microsoft.com/office/drawing/2014/main" id="{632AE916-5394-4686-9EE5-384BCFA9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4964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49" name="flow-step-5">
            <a:extLst xmlns:a="http://schemas.openxmlformats.org/drawingml/2006/main">
              <a:ext uri="{FF2B5EF4-FFF2-40B4-BE49-F238E27FC236}">
                <a16:creationId xmlns:a16="http://schemas.microsoft.com/office/drawing/2014/main" id="{DE3CEE62-8DC5-4AAB-AF7A-16E483DB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53550"/>
            <a:ext cx="23812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B7DED5"/>
            </a:solidFill>
            <a:prstDash val="solid"/>
          </a:ln>
        </p:spPr>
        <p:txBody>
          <a:bodyPr xmlns:a="http://schemas.openxmlformats.org/drawingml/2006/main" wrap="square" lIns="9525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90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Independent test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990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34424F"/>
                </a:solidFill>
                <a:latin typeface="Arial"/>
                <a:ea typeface="Arial"/>
                <a:cs typeface="Arial"/>
              </a:rPr>
              <a:t>Both checkpoints · same 188 images</a:t>
            </a:r>
          </a:p>
        </p:txBody>
      </p:sp>
      <p:sp>
        <p:nvSpPr>
          <p:cNvPr id="3150" name="training-setup-band">
            <a:extLst xmlns:a="http://schemas.openxmlformats.org/drawingml/2006/main">
              <a:ext uri="{FF2B5EF4-FFF2-40B4-BE49-F238E27FC236}">
                <a16:creationId xmlns:a16="http://schemas.microsoft.com/office/drawing/2014/main" id="{DF4B7FAE-D9C3-4CA3-B7C1-D0973A79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67925"/>
            <a:ext cx="276225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B7DED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5" b="1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005" b="1">
                <a:solidFill>
                  <a:srgbClr val="8E1F35"/>
                </a:solidFill>
                <a:latin typeface="Arial"/>
                <a:ea typeface="Arial"/>
                <a:cs typeface="Arial"/>
              </a:rPr>
              <a:t>DATASET + LEAKAGE AUDIT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05" b="1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005" b="1">
                <a:solidFill>
                  <a:srgbClr val="34424F"/>
                </a:solidFill>
                <a:latin typeface="Arial"/>
                <a:ea typeface="Arial"/>
                <a:cs typeface="Arial"/>
              </a:rPr>
              <a:t>1,887 cleaned image-label pairs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05" b="1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005" b="1">
                <a:solidFill>
                  <a:srgbClr val="34424F"/>
                </a:solidFill>
                <a:latin typeface="Arial"/>
                <a:ea typeface="Arial"/>
                <a:cs typeface="Arial"/>
              </a:rPr>
              <a:t>Train 1,511 (276 bg) | Val 188 (34 bg) | Test 188 (34 bg)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05" b="1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005" b="1">
                <a:solidFill>
                  <a:srgbClr val="34424F"/>
                </a:solidFill>
                <a:latin typeface="Arial"/>
                <a:ea typeface="Arial"/>
                <a:cs typeface="Arial"/>
              </a:rPr>
              <a:t>Test set: 188 images · 171 labelled objects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05" b="1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005" b="1">
                <a:solidFill>
                  <a:srgbClr val="34424F"/>
                </a:solidFill>
                <a:latin typeface="Arial"/>
                <a:ea typeface="Arial"/>
                <a:cs typeface="Arial"/>
              </a:rPr>
              <a:t>0 source-name, exact SHA-256 or perceptual-hash overlaps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05" b="1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005" b="1">
                <a:solidFill>
                  <a:srgbClr val="34424F"/>
                </a:solidFill>
                <a:latin typeface="Arial"/>
                <a:ea typeface="Arial"/>
                <a:cs typeface="Arial"/>
              </a:rPr>
              <a:t>Class 1 corrected: face-cigarette-smoking → flame</a:t>
            </a:r>
          </a:p>
        </p:txBody>
      </p:sp>
      <p:sp>
        <p:nvSpPr>
          <p:cNvPr id="3151" name="method-evaluation-label">
            <a:extLst xmlns:a="http://schemas.openxmlformats.org/drawingml/2006/main">
              <a:ext uri="{FF2B5EF4-FFF2-40B4-BE49-F238E27FC236}">
                <a16:creationId xmlns:a16="http://schemas.microsoft.com/office/drawing/2014/main" id="{B95D2028-D326-49B6-A2CD-743DFE14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16342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1" i="0">
                <a:solidFill>
                  <a:srgbClr val="8E1F35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8E1F35"/>
                </a:solidFill>
                <a:latin typeface="Arial"/>
                <a:ea typeface="Arial"/>
                <a:cs typeface="Arial"/>
              </a:rPr>
              <a:t>REPRODUCIBLE LOCAL TRAINING</a:t>
            </a:r>
          </a:p>
        </p:txBody>
      </p:sp>
      <p:sp>
        <p:nvSpPr>
          <p:cNvPr id="3152" name="method-evaluation-copy">
            <a:extLst xmlns:a="http://schemas.openxmlformats.org/drawingml/2006/main">
              <a:ext uri="{FF2B5EF4-FFF2-40B4-BE49-F238E27FC236}">
                <a16:creationId xmlns:a16="http://schemas.microsoft.com/office/drawing/2014/main" id="{8BD11EE2-DB63-415D-95B2-AB01DDAC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430125"/>
            <a:ext cx="27241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05" b="0" i="0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005" b="0" i="0">
                <a:solidFill>
                  <a:srgbClr val="34424F"/>
                </a:solidFill>
                <a:latin typeface="Arial"/>
                <a:ea typeface="Arial"/>
                <a:cs typeface="Arial"/>
              </a:rPr>
              <a:t>YOLOv5s · 7.02M parameters · legacy best.pt initialisation · all layers unfrozen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05" b="0" i="0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005" b="0" i="0">
                <a:solidFill>
                  <a:srgbClr val="34424F"/>
                </a:solidFill>
                <a:latin typeface="Arial"/>
                <a:ea typeface="Arial"/>
                <a:cs typeface="Arial"/>
              </a:rPr>
              <a:t>45 epochs | 640 × 640 | batch 8 | MPS | workers 2 | seed 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05" b="0" i="0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005" b="0" i="0">
                <a:solidFill>
                  <a:srgbClr val="34424F"/>
                </a:solidFill>
                <a:latin typeface="Arial"/>
                <a:ea typeface="Arial"/>
                <a:cs typeface="Arial"/>
              </a:rPr>
              <a:t>2 h 04 min training | 2.82 GB max RSS | ~13.1 GB unified-memory footprint | 0 swaps | 14 MB model | 11.3 ms/image at batch 8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05" b="0" i="0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005" b="1" i="0">
                <a:solidFill>
                  <a:srgbClr val="8E1F35"/>
                </a:solidFill>
                <a:latin typeface="Arial"/>
                <a:ea typeface="Arial"/>
                <a:cs typeface="Arial"/>
              </a:rPr>
              <a:t>SYSTEM CONCEPT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05" b="0" i="0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005" b="0" i="0">
                <a:solidFill>
                  <a:srgbClr val="34424F"/>
                </a:solidFill>
                <a:latin typeface="Arial"/>
                <a:ea typeface="Arial"/>
                <a:cs typeface="Arial"/>
              </a:rPr>
              <a:t>CCTV / edge video → cigarette, flame and smoke boxes → confidence filtering → human verification → alert and route-planning interface.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05" b="0" i="0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005" b="1" i="0">
                <a:solidFill>
                  <a:srgbClr val="8E1F35"/>
                </a:solidFill>
                <a:latin typeface="Arial"/>
                <a:ea typeface="Arial"/>
                <a:cs typeface="Arial"/>
              </a:rPr>
              <a:t>EVIDENCE POLICY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05" b="0" i="0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005" b="0" i="0">
                <a:solidFill>
                  <a:srgbClr val="34424F"/>
                </a:solidFill>
                <a:latin typeface="Arial"/>
                <a:ea typeface="Arial"/>
                <a:cs typeface="Arial"/>
              </a:rPr>
              <a:t>Report split-integrity checks and independent-test metrics together. Do not treat the legacy validation artifact or a single inference image as deployment evidence.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05" b="0" i="0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1005" b="0" i="0">
                <a:solidFill>
                  <a:srgbClr val="34424F"/>
                </a:solidFill>
                <a:latin typeface="Arial"/>
                <a:ea typeface="Arial"/>
                <a:cs typeface="Arial"/>
              </a:rPr>
              <a:t>Scope: detector evaluation only; escape-route integration remains a prototype concept.</a:t>
            </a:r>
          </a:p>
        </p:txBody>
      </p:sp>
      <p:sp>
        <p:nvSpPr>
          <p:cNvPr id="3153" name="evidence-boundary-band">
            <a:extLst xmlns:a="http://schemas.openxmlformats.org/drawingml/2006/main">
              <a:ext uri="{FF2B5EF4-FFF2-40B4-BE49-F238E27FC236}">
                <a16:creationId xmlns:a16="http://schemas.microsoft.com/office/drawing/2014/main" id="{D5093714-5714-4ECF-90D5-F080EB34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229725"/>
            <a:ext cx="3048000" cy="478155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DC477"/>
            </a:solidFill>
            <a:prstDash val="solid"/>
          </a:ln>
        </p:spPr>
        <p:txBody>
          <a:bodyPr xmlns:a="http://schemas.openxmlformats.org/drawingml/2006/main" wrap="square" lIns="104775" tIns="95250" rIns="104775" bIns="857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8E1F35"/>
                </a:solidFill>
                <a:latin typeface="Arial"/>
                <a:ea typeface="Arial"/>
                <a:cs typeface="Arial"/>
              </a:rPr>
              <a:t>ERROR ANALYSIS + NEXT EXPERIMENTS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53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34424F"/>
                </a:solidFill>
                <a:latin typeface="Arial"/>
                <a:ea typeface="Arial"/>
                <a:cs typeface="Arial"/>
              </a:rPr>
              <a:t>1  SMALL / OCCLUDED CIGARETTES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53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34424F"/>
                </a:solidFill>
                <a:latin typeface="Arial"/>
                <a:ea typeface="Arial"/>
                <a:cs typeface="Arial"/>
              </a:rPr>
              <a:t>Add close-range and hand-occlusion examples; tune class-specific confidence and IoU thresholds.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53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34424F"/>
                </a:solidFill>
                <a:latin typeface="Arial"/>
                <a:ea typeface="Arial"/>
                <a:cs typeface="Arial"/>
              </a:rPr>
              <a:t>2  FIRE-LIKE HARD NEGATIVES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53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34424F"/>
                </a:solidFill>
                <a:latin typeface="Arial"/>
                <a:ea typeface="Arial"/>
                <a:cs typeface="Arial"/>
              </a:rPr>
              <a:t>Add lights, sunsets, reflections, fog, steam and low-light backgrounds; report false alarms per hour.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53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34424F"/>
                </a:solidFill>
                <a:latin typeface="Arial"/>
                <a:ea typeface="Arial"/>
                <a:cs typeface="Arial"/>
              </a:rPr>
              <a:t>3  TEMPORAL + DOMAIN VALIDATION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53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34424F"/>
                </a:solidFill>
                <a:latin typeface="Arial"/>
                <a:ea typeface="Arial"/>
                <a:cs typeface="Arial"/>
              </a:rPr>
              <a:t>Test frame-to-frame consistency, unseen buildings and cameras; measure alert latency and sustained-event recall.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53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34424F"/>
                </a:solidFill>
                <a:latin typeface="Arial"/>
                <a:ea typeface="Arial"/>
                <a:cs typeface="Arial"/>
              </a:rPr>
              <a:t>4  SAFE SYSTEM INTEGRATION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53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34424F"/>
                </a:solidFill>
                <a:latin typeface="Arial"/>
                <a:ea typeface="Arial"/>
                <a:cs typeface="Arial"/>
              </a:rPr>
              <a:t>Only human-verified detections should trigger the escape-route prototype; keep certified alarms as the primary safety layer.</a:t>
            </a:r>
          </a:p>
        </p:txBody>
      </p:sp>
      <p:sp>
        <p:nvSpPr>
          <p:cNvPr id="3154" name="prototype-warning">
            <a:extLst xmlns:a="http://schemas.openxmlformats.org/drawingml/2006/main">
              <a:ext uri="{FF2B5EF4-FFF2-40B4-BE49-F238E27FC236}">
                <a16:creationId xmlns:a16="http://schemas.microsoft.com/office/drawing/2014/main" id="{7F26AE5D-E53E-4FA8-BCDE-71891E32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47950"/>
            <a:ext cx="97155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8EFF2"/>
          </a:solidFill>
          <a:ln xmlns:a="http://schemas.openxmlformats.org/drawingml/2006/main" w="9525">
            <a:solidFill>
              <a:srgbClr val="DEC7D0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E1F35"/>
                </a:solidFill>
                <a:latin typeface="Arial"/>
                <a:ea typeface="Arial"/>
                <a:cs typeface="Arial"/>
              </a:rPr>
              <a:t>TAKE-HOME RESULT</a:t>
            </a:r>
            <a:r>
              <a:rPr sz="127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 |  legacy clean-test mAP@0.5 0.084  →  leakage-safe retraining 0.755  (+0.671)</a:t>
            </a:r>
          </a:p>
        </p:txBody>
      </p:sp>
      <p:sp>
        <p:nvSpPr>
          <p:cNvPr id="3155" name="section-IV-Findings">
            <a:extLst xmlns:a="http://schemas.openxmlformats.org/drawingml/2006/main">
              <a:ext uri="{FF2B5EF4-FFF2-40B4-BE49-F238E27FC236}">
                <a16:creationId xmlns:a16="http://schemas.microsoft.com/office/drawing/2014/main" id="{2B2B541F-6E0D-4E80-B25D-FFA1A35E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766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88" b="1" i="0">
                <a:solidFill>
                  <a:srgbClr val="8E1F35"/>
                </a:solidFill>
                <a:latin typeface="Arial"/>
                <a:ea typeface="Arial"/>
                <a:cs typeface="Arial"/>
              </a:defRPr>
            </a:pPr>
            <a:r>
              <a:rPr sz="1688" b="1" i="0">
                <a:solidFill>
                  <a:srgbClr val="8E1F35"/>
                </a:solidFill>
                <a:latin typeface="Arial"/>
                <a:ea typeface="Arial"/>
                <a:cs typeface="Arial"/>
              </a:rPr>
              <a:t>IV. Findings</a:t>
            </a:r>
          </a:p>
        </p:txBody>
      </p:sp>
      <p:sp>
        <p:nvSpPr>
          <p:cNvPr id="3156" name="section-rule-IV">
            <a:extLst xmlns:a="http://schemas.openxmlformats.org/drawingml/2006/main">
              <a:ext uri="{FF2B5EF4-FFF2-40B4-BE49-F238E27FC236}">
                <a16:creationId xmlns:a16="http://schemas.microsoft.com/office/drawing/2014/main" id="{1F115FC1-EF69-4A92-AB0E-AF3ED372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9B77"/>
            </a:solidFill>
            <a:prstDash val="solid"/>
          </a:ln>
        </p:spPr>
      </p:sp>
      <p:sp>
        <p:nvSpPr>
          <p:cNvPr id="3157" name="metrics-strip">
            <a:extLst xmlns:a="http://schemas.openxmlformats.org/drawingml/2006/main">
              <a:ext uri="{FF2B5EF4-FFF2-40B4-BE49-F238E27FC236}">
                <a16:creationId xmlns:a16="http://schemas.microsoft.com/office/drawing/2014/main" id="{492E18FD-6CB4-459D-B377-A3C68215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76675"/>
            <a:ext cx="3048000" cy="1352550"/>
          </a:xfrm>
          <a:prstGeom xmlns:a="http://schemas.openxmlformats.org/drawingml/2006/main" prst="roundRect">
            <a:avLst>
              <a:gd name="adj" fmla="val 704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E0D8"/>
            </a:solidFill>
            <a:prstDash val="solid"/>
          </a:ln>
        </p:spPr>
      </p:sp>
      <p:sp>
        <p:nvSpPr>
          <p:cNvPr id="3158" name="metric-Precision-value">
            <a:extLst xmlns:a="http://schemas.openxmlformats.org/drawingml/2006/main">
              <a:ext uri="{FF2B5EF4-FFF2-40B4-BE49-F238E27FC236}">
                <a16:creationId xmlns:a16="http://schemas.microsoft.com/office/drawing/2014/main" id="{28360BCA-462C-461D-A1D7-C1E17F38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4335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8E1F3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E1F35"/>
                </a:solidFill>
                <a:latin typeface="Arial"/>
                <a:ea typeface="Arial"/>
                <a:cs typeface="Arial"/>
              </a:rPr>
              <a:t>0.841</a:t>
            </a:r>
          </a:p>
        </p:txBody>
      </p:sp>
      <p:sp>
        <p:nvSpPr>
          <p:cNvPr id="3159" name="metric-Precision-label">
            <a:extLst xmlns:a="http://schemas.openxmlformats.org/drawingml/2006/main">
              <a:ext uri="{FF2B5EF4-FFF2-40B4-BE49-F238E27FC236}">
                <a16:creationId xmlns:a16="http://schemas.microsoft.com/office/drawing/2014/main" id="{9AAE006B-646A-4D3F-A05B-2555FA21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7672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1" i="0">
                <a:solidFill>
                  <a:srgbClr val="65727D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65727D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3160" name="metric-Recall-value">
            <a:extLst xmlns:a="http://schemas.openxmlformats.org/drawingml/2006/main">
              <a:ext uri="{FF2B5EF4-FFF2-40B4-BE49-F238E27FC236}">
                <a16:creationId xmlns:a16="http://schemas.microsoft.com/office/drawing/2014/main" id="{76F00E1F-260C-44EC-A480-C3365D7F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4335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8E1F3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E1F35"/>
                </a:solidFill>
                <a:latin typeface="Arial"/>
                <a:ea typeface="Arial"/>
                <a:cs typeface="Arial"/>
              </a:rPr>
              <a:t>0.680</a:t>
            </a:r>
          </a:p>
        </p:txBody>
      </p:sp>
      <p:sp>
        <p:nvSpPr>
          <p:cNvPr id="3161" name="metric-Recall-label">
            <a:extLst xmlns:a="http://schemas.openxmlformats.org/drawingml/2006/main">
              <a:ext uri="{FF2B5EF4-FFF2-40B4-BE49-F238E27FC236}">
                <a16:creationId xmlns:a16="http://schemas.microsoft.com/office/drawing/2014/main" id="{36A5A5B5-443B-4B9F-9A1A-07565DBF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7672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1" i="0">
                <a:solidFill>
                  <a:srgbClr val="65727D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65727D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3162" name="metric-mAP@0.5-value">
            <a:extLst xmlns:a="http://schemas.openxmlformats.org/drawingml/2006/main">
              <a:ext uri="{FF2B5EF4-FFF2-40B4-BE49-F238E27FC236}">
                <a16:creationId xmlns:a16="http://schemas.microsoft.com/office/drawing/2014/main" id="{D79C30FD-90D5-4485-97A8-29F51B25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8E1F3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E1F35"/>
                </a:solidFill>
                <a:latin typeface="Arial"/>
                <a:ea typeface="Arial"/>
                <a:cs typeface="Arial"/>
              </a:rPr>
              <a:t>0.755</a:t>
            </a:r>
          </a:p>
        </p:txBody>
      </p:sp>
      <p:sp>
        <p:nvSpPr>
          <p:cNvPr id="3163" name="metric-mAP@0.5-label">
            <a:extLst xmlns:a="http://schemas.openxmlformats.org/drawingml/2006/main">
              <a:ext uri="{FF2B5EF4-FFF2-40B4-BE49-F238E27FC236}">
                <a16:creationId xmlns:a16="http://schemas.microsoft.com/office/drawing/2014/main" id="{4ABDC610-02F5-4F3E-9589-786DDEB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053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1" i="0">
                <a:solidFill>
                  <a:srgbClr val="65727D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65727D"/>
                </a:solidFill>
                <a:latin typeface="Arial"/>
                <a:ea typeface="Arial"/>
                <a:cs typeface="Arial"/>
              </a:rPr>
              <a:t>mAP@0.5</a:t>
            </a:r>
          </a:p>
        </p:txBody>
      </p:sp>
      <p:sp>
        <p:nvSpPr>
          <p:cNvPr id="3164" name="metric-mAP@0.5:0.95-value">
            <a:extLst xmlns:a="http://schemas.openxmlformats.org/drawingml/2006/main">
              <a:ext uri="{FF2B5EF4-FFF2-40B4-BE49-F238E27FC236}">
                <a16:creationId xmlns:a16="http://schemas.microsoft.com/office/drawing/2014/main" id="{804FFDE8-9B9E-4A08-BC19-0D1B1C06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8E1F3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E1F35"/>
                </a:solidFill>
                <a:latin typeface="Arial"/>
                <a:ea typeface="Arial"/>
                <a:cs typeface="Arial"/>
              </a:rPr>
              <a:t>0.453</a:t>
            </a:r>
          </a:p>
        </p:txBody>
      </p:sp>
      <p:sp>
        <p:nvSpPr>
          <p:cNvPr id="3165" name="metric-mAP@0.5:0.95-label">
            <a:extLst xmlns:a="http://schemas.openxmlformats.org/drawingml/2006/main">
              <a:ext uri="{FF2B5EF4-FFF2-40B4-BE49-F238E27FC236}">
                <a16:creationId xmlns:a16="http://schemas.microsoft.com/office/drawing/2014/main" id="{F6C583BE-B7C1-44CE-8849-15CE0162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053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1" i="0">
                <a:solidFill>
                  <a:srgbClr val="65727D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65727D"/>
                </a:solidFill>
                <a:latin typeface="Arial"/>
                <a:ea typeface="Arial"/>
                <a:cs typeface="Arial"/>
              </a:rPr>
              <a:t>mAP@0.5:0.95</a:t>
            </a:r>
          </a:p>
        </p:txBody>
      </p:sp>
      <p:sp>
        <p:nvSpPr>
          <p:cNvPr id="3166" name="pr-curve-backdrop">
            <a:extLst xmlns:a="http://schemas.openxmlformats.org/drawingml/2006/main">
              <a:ext uri="{FF2B5EF4-FFF2-40B4-BE49-F238E27FC236}">
                <a16:creationId xmlns:a16="http://schemas.microsoft.com/office/drawing/2014/main" id="{8AF8D68A-8C73-4039-8E50-BA014EA3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53050"/>
            <a:ext cx="3048000" cy="3257550"/>
          </a:xfrm>
          <a:prstGeom xmlns:a="http://schemas.openxmlformats.org/drawingml/2006/main" prst="roundRect">
            <a:avLst>
              <a:gd name="adj" fmla="val 28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E0E4"/>
            </a:solidFill>
            <a:prstDash val="solid"/>
          </a:ln>
        </p:spPr>
      </p:sp>
      <p:pic>
        <p:nvPicPr>
          <p:cNvPr id="32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be295d2454b58"/>
          <a:stretch xmlns:a="http://schemas.openxmlformats.org/drawingml/2006/main"/>
        </p:blipFill>
        <p:spPr>
          <a:xfrm xmlns:a="http://schemas.openxmlformats.org/drawingml/2006/main">
            <a:off x="3676650" y="5666482"/>
            <a:ext cx="2933700" cy="2154436"/>
          </a:xfrm>
          <a:prstGeom xmlns:a="http://schemas.openxmlformats.org/drawingml/2006/main" prst="rect">
            <a:avLst/>
          </a:prstGeom>
        </p:spPr>
      </p:pic>
      <p:sp>
        <p:nvSpPr>
          <p:cNvPr id="3168" name="pr-caption">
            <a:extLst xmlns:a="http://schemas.openxmlformats.org/drawingml/2006/main">
              <a:ext uri="{FF2B5EF4-FFF2-40B4-BE49-F238E27FC236}">
                <a16:creationId xmlns:a16="http://schemas.microsoft.com/office/drawing/2014/main" id="{1E5D3016-BF7D-4C0C-AA75-A6F2DA3E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10577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70" b="0" i="1">
                <a:solidFill>
                  <a:srgbClr val="E58A1F"/>
                </a:solidFill>
                <a:latin typeface="Arial"/>
                <a:ea typeface="Arial"/>
                <a:cs typeface="Arial"/>
              </a:defRPr>
            </a:pPr>
            <a:r>
              <a:rPr sz="870" b="0" i="1">
                <a:solidFill>
                  <a:srgbClr val="E58A1F"/>
                </a:solidFill>
                <a:latin typeface="Arial"/>
                <a:ea typeface="Arial"/>
                <a:cs typeface="Arial"/>
              </a:rPr>
              <a:t>*Legacy validation used an old split and old class definition; it is shown only to explain the original claim. Clean-test bars use the same 188 images.</a:t>
            </a:r>
          </a:p>
        </p:txBody>
      </p:sp>
      <p:sp>
        <p:nvSpPr>
          <p:cNvPr id="3169" name="confusion-matrix-backdrop">
            <a:extLst xmlns:a="http://schemas.openxmlformats.org/drawingml/2006/main">
              <a:ext uri="{FF2B5EF4-FFF2-40B4-BE49-F238E27FC236}">
                <a16:creationId xmlns:a16="http://schemas.microsoft.com/office/drawing/2014/main" id="{5D9E9E64-B908-4526-94CE-D30047D8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76625"/>
            <a:ext cx="3048000" cy="5619750"/>
          </a:xfrm>
          <a:prstGeom xmlns:a="http://schemas.openxmlformats.org/drawingml/2006/main" prst="roundRect">
            <a:avLst>
              <a:gd name="adj" fmla="val 2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4"/>
            </a:solidFill>
            <a:prstDash val="solid"/>
          </a:ln>
        </p:spPr>
        <p:txBody>
          <a:bodyPr xmlns:a="http://schemas.openxmlformats.org/drawingml/2006/main" wrap="square" lIns="47625" tIns="66675" rIns="476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8E1F35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8E1F35"/>
                </a:solidFill>
                <a:latin typeface="Arial"/>
                <a:ea typeface="Arial"/>
                <a:cs typeface="Arial"/>
              </a:rPr>
              <a:t>VISUAL EVIDENCE  |  CLEAN EXPERIMENT</a:t>
            </a:r>
          </a:p>
        </p:txBody>
      </p:sp>
      <p:pic>
        <p:nvPicPr>
          <p:cNvPr id="32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44ed5a9a845e4"/>
          <a:stretch xmlns:a="http://schemas.openxmlformats.org/drawingml/2006/main"/>
        </p:blipFill>
        <p:spPr>
          <a:xfrm xmlns:a="http://schemas.openxmlformats.org/drawingml/2006/main">
            <a:off x="6896100" y="3800475"/>
            <a:ext cx="2933700" cy="5133975"/>
          </a:xfrm>
          <a:prstGeom xmlns:a="http://schemas.openxmlformats.org/drawingml/2006/main" prst="rect">
            <a:avLst/>
          </a:prstGeom>
        </p:spPr>
      </p:pic>
      <p:sp>
        <p:nvSpPr>
          <p:cNvPr id="3171" name="findings-takeaway">
            <a:extLst xmlns:a="http://schemas.openxmlformats.org/drawingml/2006/main">
              <a:ext uri="{FF2B5EF4-FFF2-40B4-BE49-F238E27FC236}">
                <a16:creationId xmlns:a16="http://schemas.microsoft.com/office/drawing/2014/main" id="{8CE54085-300D-4A38-BB03-866D7852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724900"/>
            <a:ext cx="3048000" cy="2628900"/>
          </a:xfrm>
          <a:prstGeom xmlns:a="http://schemas.openxmlformats.org/drawingml/2006/main" prst="roundRect">
            <a:avLst>
              <a:gd name="adj" fmla="val 3623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ADDF3"/>
            </a:solidFill>
            <a:prstDash val="solid"/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49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49" b="1">
                <a:solidFill>
                  <a:srgbClr val="8E1F35"/>
                </a:solidFill>
                <a:latin typeface="Arial"/>
                <a:ea typeface="Arial"/>
                <a:cs typeface="Arial"/>
              </a:rPr>
              <a:t>INDEPENDENT TEST BY CLASS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949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49" b="1">
                <a:solidFill>
                  <a:srgbClr val="34424F"/>
                </a:solidFill>
                <a:latin typeface="Arial"/>
                <a:ea typeface="Arial"/>
                <a:cs typeface="Arial"/>
              </a:rPr>
              <a:t>188 images · 171 objects · 11.3 ms/image (batch 8)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949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49" b="1">
                <a:solidFill>
                  <a:srgbClr val="34424F"/>
                </a:solidFill>
                <a:latin typeface="Arial"/>
                <a:ea typeface="Arial"/>
                <a:cs typeface="Arial"/>
              </a:rPr>
              <a:t>CIGARETTE  n=82 | P .794 | R .634 | AP50 .717 | AP50–95 .404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949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49" b="1">
                <a:solidFill>
                  <a:srgbClr val="34424F"/>
                </a:solidFill>
                <a:latin typeface="Arial"/>
                <a:ea typeface="Arial"/>
                <a:cs typeface="Arial"/>
              </a:rPr>
              <a:t>FLAME       n=50 | P .812 | R .740 | AP50 .763 | AP50–95 .360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949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49" b="1">
                <a:solidFill>
                  <a:srgbClr val="34424F"/>
                </a:solidFill>
                <a:latin typeface="Arial"/>
                <a:ea typeface="Arial"/>
                <a:cs typeface="Arial"/>
              </a:rPr>
              <a:t>SMOKE</a:t>
            </a:r>
            <a:r>
              <a:rPr sz="949" b="1">
                <a:solidFill>
                  <a:srgbClr val="34424F"/>
                </a:solidFill>
                <a:latin typeface="Arial"/>
                <a:ea typeface="Arial"/>
                <a:cs typeface="Arial"/>
              </a:rPr>
              <a:t>       n=39 | P .919 | R .667 | AP50 .786 | AP50–95 .595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949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49" b="1">
                <a:solidFill>
                  <a:srgbClr val="34424F"/>
                </a:solidFill>
                <a:latin typeface="Arial"/>
                <a:ea typeface="Arial"/>
                <a:cs typeface="Arial"/>
              </a:rPr>
              <a:t>Improvement vs legacy clean test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949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49" b="1">
                <a:solidFill>
                  <a:srgbClr val="34424F"/>
                </a:solidFill>
                <a:latin typeface="Arial"/>
                <a:ea typeface="Arial"/>
                <a:cs typeface="Arial"/>
              </a:rPr>
              <a:t>+.380 P | +.575 R | +.671 AP50 | +.421 AP50–95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949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49" b="1">
                <a:solidFill>
                  <a:srgbClr val="34424F"/>
                </a:solidFill>
                <a:latin typeface="Arial"/>
                <a:ea typeface="Arial"/>
                <a:cs typeface="Arial"/>
              </a:rPr>
              <a:t>Retrained AP50 = 85% of the legacy validation headline (0.755 / 0.889).</a:t>
            </a:r>
          </a:p>
        </p:txBody>
      </p:sp>
      <p:sp>
        <p:nvSpPr>
          <p:cNvPr id="3172" name="section-V-Conclusion">
            <a:extLst xmlns:a="http://schemas.openxmlformats.org/drawingml/2006/main">
              <a:ext uri="{FF2B5EF4-FFF2-40B4-BE49-F238E27FC236}">
                <a16:creationId xmlns:a16="http://schemas.microsoft.com/office/drawing/2014/main" id="{4E323BCF-8560-40FA-8AEA-845E0343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4966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88" b="1" i="0">
                <a:solidFill>
                  <a:srgbClr val="8E1F35"/>
                </a:solidFill>
                <a:latin typeface="Arial"/>
                <a:ea typeface="Arial"/>
                <a:cs typeface="Arial"/>
              </a:defRPr>
            </a:pPr>
            <a:r>
              <a:rPr sz="1688" b="1" i="0">
                <a:solidFill>
                  <a:srgbClr val="8E1F35"/>
                </a:solidFill>
                <a:latin typeface="Arial"/>
                <a:ea typeface="Arial"/>
                <a:cs typeface="Arial"/>
              </a:rPr>
              <a:t>V. Conclusion</a:t>
            </a:r>
          </a:p>
        </p:txBody>
      </p:sp>
      <p:sp>
        <p:nvSpPr>
          <p:cNvPr id="3173" name="section-rule-V">
            <a:extLst xmlns:a="http://schemas.openxmlformats.org/drawingml/2006/main">
              <a:ext uri="{FF2B5EF4-FFF2-40B4-BE49-F238E27FC236}">
                <a16:creationId xmlns:a16="http://schemas.microsoft.com/office/drawing/2014/main" id="{36C2F760-DB95-48A7-A221-522781BA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8110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9B77"/>
            </a:solidFill>
            <a:prstDash val="solid"/>
          </a:ln>
        </p:spPr>
      </p:sp>
      <p:sp>
        <p:nvSpPr>
          <p:cNvPr id="3174" name="conclusion-bullets">
            <a:extLst xmlns:a="http://schemas.openxmlformats.org/drawingml/2006/main">
              <a:ext uri="{FF2B5EF4-FFF2-40B4-BE49-F238E27FC236}">
                <a16:creationId xmlns:a16="http://schemas.microsoft.com/office/drawing/2014/main" id="{F4BAF675-C7E7-49F8-8650-D98EEB34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896725"/>
            <a:ext cx="3048000" cy="542925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4"/>
            </a:solidFill>
            <a:prstDash val="solid"/>
          </a:ln>
        </p:spPr>
        <p:txBody>
          <a:bodyPr xmlns:a="http://schemas.openxmlformats.org/drawingml/2006/main" wrap="square" lIns="104775" tIns="95250" rIns="104775" bIns="95250" anchor="t">
            <a:noAutofit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994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94" b="1">
                <a:solidFill>
                  <a:srgbClr val="8E1F35"/>
                </a:solidFill>
                <a:latin typeface="Arial"/>
                <a:ea typeface="Arial"/>
                <a:cs typeface="Arial"/>
              </a:rPr>
              <a:t>WHAT CHANGED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994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94">
                <a:solidFill>
                  <a:srgbClr val="34424F"/>
                </a:solidFill>
                <a:latin typeface="Arial"/>
                <a:ea typeface="Arial"/>
                <a:cs typeface="Arial"/>
              </a:rPr>
              <a:t>• Leakage auditing changed the scientific conclusion: the legacy checkpoint fell from an apparent validation AP50 of 0.889 to 0.084 on the independent clean test.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994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94" b="1">
                <a:solidFill>
                  <a:srgbClr val="8E1F35"/>
                </a:solidFill>
                <a:latin typeface="Arial"/>
                <a:ea typeface="Arial"/>
                <a:cs typeface="Arial"/>
              </a:rPr>
              <a:t>WHAT WORKED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994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94">
                <a:solidFill>
                  <a:srgbClr val="34424F"/>
                </a:solidFill>
                <a:latin typeface="Arial"/>
                <a:ea typeface="Arial"/>
                <a:cs typeface="Arial"/>
              </a:rPr>
              <a:t>• Retraining recovered AP50 to 0.755 and AP50–95 to 0.453 without cross-split leakage.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994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94">
                <a:solidFill>
                  <a:srgbClr val="34424F"/>
                </a:solidFill>
                <a:latin typeface="Arial"/>
                <a:ea typeface="Arial"/>
                <a:cs typeface="Arial"/>
              </a:rPr>
              <a:t>• Smoke achieved the strongest precision (0.919) and strict AP (0.595).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994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94" b="1">
                <a:solidFill>
                  <a:srgbClr val="8E1F35"/>
                </a:solidFill>
                <a:latin typeface="Arial"/>
                <a:ea typeface="Arial"/>
                <a:cs typeface="Arial"/>
              </a:rPr>
              <a:t>WHAT REMAINS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994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94">
                <a:solidFill>
                  <a:srgbClr val="34424F"/>
                </a:solidFill>
                <a:latin typeface="Arial"/>
                <a:ea typeface="Arial"/>
                <a:cs typeface="Arial"/>
              </a:rPr>
              <a:t>• Cigarette recall (0.634) is limited by small size and hand occlusion.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994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94">
                <a:solidFill>
                  <a:srgbClr val="34424F"/>
                </a:solidFill>
                <a:latin typeface="Arial"/>
                <a:ea typeface="Arial"/>
                <a:cs typeface="Arial"/>
              </a:rPr>
              <a:t>• Flame AP50–95 (0.360) indicates localisation error despite 0.740 recall.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994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94">
                <a:solidFill>
                  <a:srgbClr val="34424F"/>
                </a:solidFill>
                <a:latin typeface="Arial"/>
                <a:ea typeface="Arial"/>
                <a:cs typeface="Arial"/>
              </a:rPr>
              <a:t>• Missed targets dominate more than cross-class confusion.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994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94" b="1">
                <a:solidFill>
                  <a:srgbClr val="8E1F35"/>
                </a:solidFill>
                <a:latin typeface="Arial"/>
                <a:ea typeface="Arial"/>
                <a:cs typeface="Arial"/>
              </a:rPr>
              <a:t>DECISION</a:t>
            </a:r>
          </a:p>
          <a:p xmlns:a="http://schemas.openxmlformats.org/drawingml/2006/main">
            <a:pPr marL="18" indent="-10" algn="l">
              <a:lnSpc>
                <a:spcPct val="110000"/>
              </a:lnSpc>
              <a:spcAft>
                <a:spcPts val="7"/>
              </a:spcAft>
              <a:buNone/>
              <a:defRPr sz="994">
                <a:solidFill>
                  <a:srgbClr val="34424F"/>
                </a:solidFill>
                <a:latin typeface="Arial"/>
                <a:ea typeface="Arial"/>
                <a:cs typeface="Arial"/>
              </a:defRPr>
            </a:pPr>
            <a:r>
              <a:rPr sz="994">
                <a:solidFill>
                  <a:srgbClr val="34424F"/>
                </a:solidFill>
                <a:latin typeface="Arial"/>
                <a:ea typeface="Arial"/>
                <a:cs typeface="Arial"/>
              </a:rPr>
              <a:t>The detector is promising for human-verified early alerts. It is not ready for safety-critical autonomy until class calibration, temporal validation and unseen-building tests are completed.</a:t>
            </a:r>
          </a:p>
        </p:txBody>
      </p:sp>
      <p:sp>
        <p:nvSpPr>
          <p:cNvPr id="3175" name="section-VI-References">
            <a:extLst xmlns:a="http://schemas.openxmlformats.org/drawingml/2006/main">
              <a:ext uri="{FF2B5EF4-FFF2-40B4-BE49-F238E27FC236}">
                <a16:creationId xmlns:a16="http://schemas.microsoft.com/office/drawing/2014/main" id="{1697A5AD-680A-44F3-A7B6-2D2FB6F3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1446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88" b="1" i="0">
                <a:solidFill>
                  <a:srgbClr val="8E1F35"/>
                </a:solidFill>
                <a:latin typeface="Arial"/>
                <a:ea typeface="Arial"/>
                <a:cs typeface="Arial"/>
              </a:defRPr>
            </a:pPr>
            <a:r>
              <a:rPr sz="1688" b="1" i="0">
                <a:solidFill>
                  <a:srgbClr val="8E1F35"/>
                </a:solidFill>
                <a:latin typeface="Arial"/>
                <a:ea typeface="Arial"/>
                <a:cs typeface="Arial"/>
              </a:rPr>
              <a:t>VI. References</a:t>
            </a:r>
          </a:p>
        </p:txBody>
      </p:sp>
      <p:sp>
        <p:nvSpPr>
          <p:cNvPr id="3176" name="section-rule-VI">
            <a:extLst xmlns:a="http://schemas.openxmlformats.org/drawingml/2006/main">
              <a:ext uri="{FF2B5EF4-FFF2-40B4-BE49-F238E27FC236}">
                <a16:creationId xmlns:a16="http://schemas.microsoft.com/office/drawing/2014/main" id="{92D8E987-6BEE-4DCE-8D33-C07E8B37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4589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9B77"/>
            </a:solidFill>
            <a:prstDash val="solid"/>
          </a:ln>
        </p:spPr>
      </p:sp>
      <p:sp>
        <p:nvSpPr>
          <p:cNvPr id="3177" name="references-copy">
            <a:extLst xmlns:a="http://schemas.openxmlformats.org/drawingml/2006/main">
              <a:ext uri="{FF2B5EF4-FFF2-40B4-BE49-F238E27FC236}">
                <a16:creationId xmlns:a16="http://schemas.microsoft.com/office/drawing/2014/main" id="{D4AABD3D-C4E6-4E96-AD16-092A761C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544675"/>
            <a:ext cx="3048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38" b="0" i="0">
                <a:solidFill>
                  <a:srgbClr val="65727D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65727D"/>
                </a:solidFill>
                <a:latin typeface="Arial"/>
                <a:ea typeface="Arial"/>
                <a:cs typeface="Arial"/>
              </a:rPr>
              <a:t>[1] Jocher, G. et al. (2020). ultralytics/yolov5. Zenodo.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938" b="0" i="0">
                <a:solidFill>
                  <a:srgbClr val="65727D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65727D"/>
                </a:solidFill>
                <a:latin typeface="Arial"/>
                <a:ea typeface="Arial"/>
                <a:cs typeface="Arial"/>
              </a:rPr>
              <a:t>[2] URIS Progress Report P0053535 (2025).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938" b="0" i="0">
                <a:solidFill>
                  <a:srgbClr val="65727D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65727D"/>
                </a:solidFill>
                <a:latin typeface="Arial"/>
                <a:ea typeface="Arial"/>
                <a:cs typeface="Arial"/>
              </a:rPr>
              <a:t>[3] Leakage-safe dataset audit and 45-epoch clean experiment (11 Aug 2026).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938" b="0" i="0">
                <a:solidFill>
                  <a:srgbClr val="65727D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65727D"/>
                </a:solidFill>
                <a:latin typeface="Arial"/>
                <a:ea typeface="Arial"/>
                <a:cs typeface="Arial"/>
              </a:rPr>
              <a:t>[4] Independent evaluations: baseline_clean_test and full_clean_test.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938" b="0" i="0">
                <a:solidFill>
                  <a:srgbClr val="65727D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65727D"/>
                </a:solidFill>
                <a:latin typeface="Arial"/>
                <a:ea typeface="Arial"/>
                <a:cs typeface="Arial"/>
              </a:rPr>
              <a:t>[5] GitHub repository: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938" b="0" i="0">
                <a:solidFill>
                  <a:srgbClr val="65727D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65727D"/>
                </a:solidFill>
                <a:latin typeface="Arial"/>
                <a:ea typeface="Arial"/>
                <a:cs typeface="Arial"/>
              </a:rPr>
              <a:t>github.com/Llleeeo/Smoke-and-Fire-detection-model-and-implementation-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163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0">
                <a:solidFill>
                  <a:srgbClr val="1F2428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938" b="0" i="0">
                <a:solidFill>
                  <a:srgbClr val="65727D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65727D"/>
                </a:solidFill>
                <a:latin typeface="Arial"/>
                <a:ea typeface="Arial"/>
                <a:cs typeface="Arial"/>
              </a:rPr>
              <a:t>All headline results are independent-test values unless marked legacy val*. Source paths and provenance are embedded in the PowerPoint notes.</a:t>
            </a:r>
          </a:p>
        </p:txBody>
      </p:sp>
    </p:spTree>
    <p:extLst>
      <p:ext uri="{BB962C8B-B14F-4D97-AF65-F5344CB8AC3E}">
        <p14:creationId xmlns:p14="http://schemas.microsoft.com/office/powerpoint/2010/main" val="325824664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2026-08-11T15:09:43.8760000Z</dcterms:created>
  <dcterms:modified xsi:type="dcterms:W3CDTF">2026-08-11T15:09:43.8760000Z</dcterms:modified>
</coreProperties>
</file>