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fb6767d8ef4223" /><Relationship Type="http://schemas.openxmlformats.org/officeDocument/2006/relationships/extended-properties" Target="/docProps/app.xml" Id="R13398a41bba1455b" /><Relationship Type="http://schemas.openxmlformats.org/officeDocument/2006/relationships/officeDocument" Target="/ppt/presentation.xml" Id="R88aed41449d343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3f86798f644234"/>
  </p:sldMasterIdLst>
  <p:notesMasterIdLst>
    <p:notesMasterId xmlns:r="http://schemas.openxmlformats.org/officeDocument/2006/relationships" r:id="Rbd834c61c4044f7c"/>
  </p:notesMasterIdLst>
  <p:sldIdLst>
    <p:sldId xmlns:r="http://schemas.openxmlformats.org/officeDocument/2006/relationships" id="256" r:id="R40b74bab393d48d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217944f59e4929" /><Relationship Type="http://schemas.openxmlformats.org/officeDocument/2006/relationships/slideMaster" Target="/ppt/slideMasters/slideMaster1.xml" Id="R913f86798f644234" /><Relationship Type="http://schemas.openxmlformats.org/officeDocument/2006/relationships/notesMaster" Target="/ppt/notesMasters/notesMaster1.xml" Id="Rbd834c61c4044f7c" /><Relationship Type="http://schemas.openxmlformats.org/officeDocument/2006/relationships/presProps" Target="/ppt/presProps.xml" Id="R2ca38b38f19e48e8" /><Relationship Type="http://schemas.openxmlformats.org/officeDocument/2006/relationships/tableStyles" Target="/ppt/tableStyles.xml" Id="Rdb990a777bbe4a66" /><Relationship Type="http://schemas.openxmlformats.org/officeDocument/2006/relationships/slide" Target="/ppt/slides/slide1.xml" Id="R40b74bab393d48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e47a3554f446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a551517fa5455d" /><Relationship Type="http://schemas.openxmlformats.org/officeDocument/2006/relationships/notesMaster" Target="/ppt/notesMasters/notesMaster1.xml" Id="Rebafc053a38e4f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docs/Undergraduate Research and Innovation Scheme.pdf (project title, author, supervisor, motivation, original workflow)</a:t>
            </a:r>
          </a:p>
          <a:p xmlns:a="http://schemas.openxmlformats.org/drawingml/2006/main">
            <a:r>
              <a:t>- training/leakage_safe_yolov5/EXPERIMENT_RESULTS.md (clean dataset, test metrics, class metrics, resource usage)</a:t>
            </a:r>
          </a:p>
          <a:p xmlns:a="http://schemas.openxmlformats.org/drawingml/2006/main">
            <a:r>
              <a:t>- training/leakage_safe_yolov5/audit/verification.json (zero cross-split overlaps)</a:t>
            </a:r>
          </a:p>
          <a:p xmlns:a="http://schemas.openxmlformats.org/drawingml/2006/main">
            <a:r>
              <a:t>- training/leakage_safe_yolov5/original_model_reference/results.csv (legacy validation artifact)</a:t>
            </a:r>
          </a:p>
          <a:p xmlns:a="http://schemas.openxmlformats.org/drawingml/2006/main">
            <a:r>
              <a:t>- training/leakage_safe_yolov5/runs/full_clean_45e/results.csv and results.png (training trajectory)</a:t>
            </a:r>
          </a:p>
          <a:p xmlns:a="http://schemas.openxmlformats.org/drawingml/2006/main">
            <a:r>
              <a:t>- training/leakage_safe_yolov5/runs/full_clean_test/confusion_matrix.png (clean-test confusion matrix)</a:t>
            </a:r>
          </a:p>
          <a:p xmlns:a="http://schemas.openxmlformats.org/drawingml/2006/main">
            <a:r>
              <a:t>- training/leakage_safe_yolov5/runs/full_clean_inference/000017_jpg.rf.89254c89fc5700eff8d14d33bc9cc307.jpg (inference example)</a:t>
            </a:r>
          </a:p>
          <a:p xmlns:a="http://schemas.openxmlformats.org/drawingml/2006/main">
            <a:r>
              <a:t>- https://github.com/Llleeeo/Smoke-and-Fire-detection-model-and-implementation- (repository)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a6d0a6df434f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29fab05d63496b" /><Relationship Type="http://schemas.openxmlformats.org/officeDocument/2006/relationships/slideLayout" Target="/ppt/slideLayouts/slideLayout1.xml" Id="R332c13b76bb845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2c13b76bb845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904dd61934e63" /><Relationship Type="http://schemas.openxmlformats.org/officeDocument/2006/relationships/chart" Target="/ppt/slides/charts/chart1.xml" Id="R6bbaa24b16b1486b" /><Relationship Type="http://schemas.openxmlformats.org/officeDocument/2006/relationships/chart" Target="/ppt/slides/charts/chart2.xml" Id="Rdd62c535cbf94b44" /><Relationship Type="http://schemas.openxmlformats.org/officeDocument/2006/relationships/image" Target="/ppt/media/image.png" Id="R85dca1489daf4497" /><Relationship Type="http://schemas.openxmlformats.org/officeDocument/2006/relationships/image" Target="/ppt/media/image.jpeg" Id="Rdaa02bc4f9144ade" /><Relationship Type="http://schemas.openxmlformats.org/officeDocument/2006/relationships/image" Target="/ppt/media/image2.png" Id="R016464cc1f7e46f1" /><Relationship Type="http://schemas.openxmlformats.org/officeDocument/2006/relationships/notesSlide" Target="/ppt/notesSlides/notesSlide1.xml" Id="R6f20f35c89614c23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8"/>
                </a:solidFill>
              </a:rPr>
              <a:t>mAP comparison across evaluation states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8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mAP@0.5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Legacy val*</c:v>
              </c:pt>
              <c:pt idx="1">
                <c:v>Legacy clean</c:v>
              </c:pt>
              <c:pt idx="2">
                <c:v>Retrained clean</c:v>
              </c:pt>
            </c:strLit>
          </c:cat>
          <c:val>
            <c:numLit>
              <c:formatCode>0.000</c:formatCode>
              <c:ptCount val="3"/>
              <c:pt idx="0">
                <c:v>0.889</c:v>
              </c:pt>
              <c:pt idx="1">
                <c:v>0.084</c:v>
              </c:pt>
              <c:pt idx="2">
                <c:v>0.755</c:v>
              </c:pt>
            </c:numLit>
          </c:val>
        </c:ser>
        <c:ser>
          <c:idx val="1"/>
          <c:order val="1"/>
          <c:tx>
            <c:v>mAP@0.5:0.95</c:v>
          </c:tx>
          <c:spPr>
            <a:solidFill xmlns:a="http://schemas.openxmlformats.org/drawingml/2006/main">
              <a:srgbClr val="9ADCF7"/>
            </a:solidFill>
          </c:spPr>
          <c:cat>
            <c:strLit>
              <c:ptCount val="3"/>
              <c:pt idx="0">
                <c:v>Legacy val*</c:v>
              </c:pt>
              <c:pt idx="1">
                <c:v>Legacy clean</c:v>
              </c:pt>
              <c:pt idx="2">
                <c:v>Retrained clean</c:v>
              </c:pt>
            </c:strLit>
          </c:cat>
          <c:val>
            <c:numLit>
              <c:formatCode>0.000</c:formatCode>
              <c:ptCount val="3"/>
              <c:pt idx="0">
                <c:v>0.582</c:v>
              </c:pt>
              <c:pt idx="1">
                <c:v>0.033</c:v>
              </c:pt>
              <c:pt idx="2">
                <c:v>0.453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1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5E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C9CE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16D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961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8"/>
                </a:solidFill>
              </a:rPr>
              <a:t>Average precision by class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8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AP@0.5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Cigarette</c:v>
              </c:pt>
              <c:pt idx="1">
                <c:v>Flame</c:v>
              </c:pt>
              <c:pt idx="2">
                <c:v>Smoke</c:v>
              </c:pt>
            </c:strLit>
          </c:cat>
          <c:val>
            <c:numLit>
              <c:formatCode>0.000</c:formatCode>
              <c:ptCount val="3"/>
              <c:pt idx="0">
                <c:v>0.717</c:v>
              </c:pt>
              <c:pt idx="1">
                <c:v>0.763</c:v>
              </c:pt>
              <c:pt idx="2">
                <c:v>0.786</c:v>
              </c:pt>
            </c:numLit>
          </c:val>
        </c:ser>
        <c:ser>
          <c:idx val="1"/>
          <c:order val="1"/>
          <c:tx>
            <c:v>AP@0.5:0.95</c:v>
          </c:tx>
          <c:spPr>
            <a:solidFill xmlns:a="http://schemas.openxmlformats.org/drawingml/2006/main">
              <a:srgbClr val="9ADCF7"/>
            </a:solidFill>
          </c:spPr>
          <c:cat>
            <c:strLit>
              <c:ptCount val="3"/>
              <c:pt idx="0">
                <c:v>Cigarette</c:v>
              </c:pt>
              <c:pt idx="1">
                <c:v>Flame</c:v>
              </c:pt>
              <c:pt idx="2">
                <c:v>Smoke</c:v>
              </c:pt>
            </c:strLit>
          </c:cat>
          <c:val>
            <c:numLit>
              <c:formatCode>0.000</c:formatCode>
              <c:ptCount val="3"/>
              <c:pt idx="0">
                <c:v>0.404</c:v>
              </c:pt>
              <c:pt idx="1">
                <c:v>0.36</c:v>
              </c:pt>
              <c:pt idx="2">
                <c:v>0.595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E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1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5E9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C9CED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16D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961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program-line">
            <a:extLst xmlns:a="http://schemas.openxmlformats.org/drawingml/2006/main">
              <a:ext uri="{FF2B5EF4-FFF2-40B4-BE49-F238E27FC236}">
                <a16:creationId xmlns:a16="http://schemas.microsoft.com/office/drawing/2014/main" id="{E589C683-4593-4602-BA85-5BE09F1F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5A9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5A9C"/>
                </a:solidFill>
                <a:latin typeface="Arial"/>
                <a:ea typeface="Arial"/>
                <a:cs typeface="Arial"/>
              </a:rPr>
              <a:t>AI FIREGUARD  |  URIS P0053535  |  WORK PROGRAMME TAG3</a:t>
            </a:r>
          </a:p>
        </p:txBody>
      </p:sp>
      <p:sp>
        <p:nvSpPr>
          <p:cNvPr id="2" name="author-line">
            <a:extLst xmlns:a="http://schemas.openxmlformats.org/drawingml/2006/main">
              <a:ext uri="{FF2B5EF4-FFF2-40B4-BE49-F238E27FC236}">
                <a16:creationId xmlns:a16="http://schemas.microsoft.com/office/drawing/2014/main" id="{2A0817C5-7551-45DE-8CED-4067CE93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Yuan Haoming, DSAI  |  Chief Supervisor: Tsang Yuen Hong</a:t>
            </a:r>
          </a:p>
        </p:txBody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5759FFF2-67DB-4F50-B53F-826D161F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7183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Leakage-Safe Fire &amp; Smoke Detection with YOLOv5</a:t>
            </a:r>
          </a:p>
        </p:txBody>
      </p:sp>
      <p:sp>
        <p:nvSpPr>
          <p:cNvPr id="4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B9E38E62-67DC-49B6-9AFB-BBD95E1D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718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 clean evaluation split exposed a failing legacy checkpoint - retraining recovered independent-test mAP@0.5 from 0.084 to 0.755.</a:t>
            </a:r>
          </a:p>
        </p:txBody>
      </p:sp>
      <p:sp>
        <p:nvSpPr>
          <p:cNvPr id="5" name="header-accent-rule">
            <a:extLst xmlns:a="http://schemas.openxmlformats.org/drawingml/2006/main">
              <a:ext uri="{FF2B5EF4-FFF2-40B4-BE49-F238E27FC236}">
                <a16:creationId xmlns:a16="http://schemas.microsoft.com/office/drawing/2014/main" id="{25AD0AAF-BB4B-4168-8892-6AE5CD84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718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column-rule-1">
            <a:extLst xmlns:a="http://schemas.openxmlformats.org/drawingml/2006/main">
              <a:ext uri="{FF2B5EF4-FFF2-40B4-BE49-F238E27FC236}">
                <a16:creationId xmlns:a16="http://schemas.microsoft.com/office/drawing/2014/main" id="{6FED66CA-C7BE-41A3-99AF-B38E4D2E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33600"/>
            <a:ext cx="0" cy="741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" name="column-rule-2">
            <a:extLst xmlns:a="http://schemas.openxmlformats.org/drawingml/2006/main">
              <a:ext uri="{FF2B5EF4-FFF2-40B4-BE49-F238E27FC236}">
                <a16:creationId xmlns:a16="http://schemas.microsoft.com/office/drawing/2014/main" id="{48178EEB-D5A8-4104-945C-4E20BEF0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33600"/>
            <a:ext cx="0" cy="741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8" name="column-rule-3">
            <a:extLst xmlns:a="http://schemas.openxmlformats.org/drawingml/2006/main">
              <a:ext uri="{FF2B5EF4-FFF2-40B4-BE49-F238E27FC236}">
                <a16:creationId xmlns:a16="http://schemas.microsoft.com/office/drawing/2014/main" id="{0581CFDA-57FC-4C00-AB23-4C53D13E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2133600"/>
            <a:ext cx="0" cy="7410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9" name="context-accent">
            <a:extLst xmlns:a="http://schemas.openxmlformats.org/drawingml/2006/main">
              <a:ext uri="{FF2B5EF4-FFF2-40B4-BE49-F238E27FC236}">
                <a16:creationId xmlns:a16="http://schemas.microsoft.com/office/drawing/2014/main" id="{514B2E5D-2FFE-4000-B447-04D8196F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ntext-title">
            <a:extLst xmlns:a="http://schemas.openxmlformats.org/drawingml/2006/main">
              <a:ext uri="{FF2B5EF4-FFF2-40B4-BE49-F238E27FC236}">
                <a16:creationId xmlns:a16="http://schemas.microsoft.com/office/drawing/2014/main" id="{385F9C97-0F90-4998-BA72-639B5814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33600"/>
            <a:ext cx="3933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Why this project matters</a:t>
            </a:r>
          </a:p>
        </p:txBody>
      </p:sp>
      <p:sp>
        <p:nvSpPr>
          <p:cNvPr id="11" name="context-rule">
            <a:extLst xmlns:a="http://schemas.openxmlformats.org/drawingml/2006/main">
              <a:ext uri="{FF2B5EF4-FFF2-40B4-BE49-F238E27FC236}">
                <a16:creationId xmlns:a16="http://schemas.microsoft.com/office/drawing/2014/main" id="{3B39A1CE-7EFC-4232-9760-745A11C0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66975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2" name="context-copy">
            <a:extLst xmlns:a="http://schemas.openxmlformats.org/drawingml/2006/main">
              <a:ext uri="{FF2B5EF4-FFF2-40B4-BE49-F238E27FC236}">
                <a16:creationId xmlns:a16="http://schemas.microsoft.com/office/drawing/2014/main" id="{49D05BA3-F8CB-409B-BF51-6D7A3303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81275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Discarded cigarettes, smouldering material and delayed smoke recognition can turn small ignition events into major incidents. AI Fireguard investigates camera-based detection that can support earlier alerts and later connect to evacuation planning.</a:t>
            </a:r>
          </a:p>
        </p:txBody>
      </p:sp>
      <p:sp>
        <p:nvSpPr>
          <p:cNvPr id="13" name="target-panel">
            <a:extLst xmlns:a="http://schemas.openxmlformats.org/drawingml/2006/main">
              <a:ext uri="{FF2B5EF4-FFF2-40B4-BE49-F238E27FC236}">
                <a16:creationId xmlns:a16="http://schemas.microsoft.com/office/drawing/2014/main" id="{464A7736-9F5A-4631-9BF9-D88906B0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86175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9E2F5"/>
            </a:solidFill>
            <a:prstDash val="solid"/>
          </a:ln>
        </p:spPr>
      </p:sp>
      <p:sp>
        <p:nvSpPr>
          <p:cNvPr id="14" name="target-text">
            <a:extLst xmlns:a="http://schemas.openxmlformats.org/drawingml/2006/main">
              <a:ext uri="{FF2B5EF4-FFF2-40B4-BE49-F238E27FC236}">
                <a16:creationId xmlns:a16="http://schemas.microsoft.com/office/drawing/2014/main" id="{228A30B2-D7E8-4E6F-97F1-DB836823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A9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5A9C"/>
                </a:solidFill>
                <a:latin typeface="Arial"/>
                <a:ea typeface="Arial"/>
                <a:cs typeface="Arial"/>
              </a:rPr>
              <a:t>Detection targets:  CIGARETTE  /  FLAME  /  SMOKE</a:t>
            </a:r>
          </a:p>
        </p:txBody>
      </p:sp>
      <p:sp>
        <p:nvSpPr>
          <p:cNvPr id="15" name="audit-accent">
            <a:extLst xmlns:a="http://schemas.openxmlformats.org/drawingml/2006/main">
              <a:ext uri="{FF2B5EF4-FFF2-40B4-BE49-F238E27FC236}">
                <a16:creationId xmlns:a16="http://schemas.microsoft.com/office/drawing/2014/main" id="{B197FA5B-002F-43C2-87B1-40C99752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udit-title">
            <a:extLst xmlns:a="http://schemas.openxmlformats.org/drawingml/2006/main">
              <a:ext uri="{FF2B5EF4-FFF2-40B4-BE49-F238E27FC236}">
                <a16:creationId xmlns:a16="http://schemas.microsoft.com/office/drawing/2014/main" id="{ADFC28FC-67DE-452E-8772-E4CE8E78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38650"/>
            <a:ext cx="3933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audit changed the conclusion</a:t>
            </a:r>
          </a:p>
        </p:txBody>
      </p:sp>
      <p:sp>
        <p:nvSpPr>
          <p:cNvPr id="17" name="audit-rule">
            <a:extLst xmlns:a="http://schemas.openxmlformats.org/drawingml/2006/main">
              <a:ext uri="{FF2B5EF4-FFF2-40B4-BE49-F238E27FC236}">
                <a16:creationId xmlns:a16="http://schemas.microsoft.com/office/drawing/2014/main" id="{C796E297-6C25-4C1C-AE01-786528EA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8" name="split-number">
            <a:extLst xmlns:a="http://schemas.openxmlformats.org/drawingml/2006/main">
              <a:ext uri="{FF2B5EF4-FFF2-40B4-BE49-F238E27FC236}">
                <a16:creationId xmlns:a16="http://schemas.microsoft.com/office/drawing/2014/main" id="{BAA453E6-A0C4-4A4B-8364-6571C36B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8632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1,511  /  188  /  188</a:t>
            </a:r>
          </a:p>
        </p:txBody>
      </p:sp>
      <p:sp>
        <p:nvSpPr>
          <p:cNvPr id="19" name="split-label">
            <a:extLst xmlns:a="http://schemas.openxmlformats.org/drawingml/2006/main">
              <a:ext uri="{FF2B5EF4-FFF2-40B4-BE49-F238E27FC236}">
                <a16:creationId xmlns:a16="http://schemas.microsoft.com/office/drawing/2014/main" id="{6D43F8F2-BEE4-4020-BFA9-57E0F56F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244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train       validation       independent test</a:t>
            </a:r>
          </a:p>
        </p:txBody>
      </p:sp>
      <p:sp>
        <p:nvSpPr>
          <p:cNvPr id="20" name="audit-list-dot-1">
            <a:extLst xmlns:a="http://schemas.openxmlformats.org/drawingml/2006/main">
              <a:ext uri="{FF2B5EF4-FFF2-40B4-BE49-F238E27FC236}">
                <a16:creationId xmlns:a16="http://schemas.microsoft.com/office/drawing/2014/main" id="{00B655A4-0206-43E6-9703-D75EC7C7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udit-list-item-1">
            <a:extLst xmlns:a="http://schemas.openxmlformats.org/drawingml/2006/main">
              <a:ext uri="{FF2B5EF4-FFF2-40B4-BE49-F238E27FC236}">
                <a16:creationId xmlns:a16="http://schemas.microsoft.com/office/drawing/2014/main" id="{5B3E0B93-E549-4455-A895-BFA20DBE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3943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1,887 cleaned image-label pairs; backgrounds retained as negative samples.</a:t>
            </a:r>
          </a:p>
        </p:txBody>
      </p:sp>
      <p:sp>
        <p:nvSpPr>
          <p:cNvPr id="22" name="audit-list-dot-2">
            <a:extLst xmlns:a="http://schemas.openxmlformats.org/drawingml/2006/main">
              <a:ext uri="{FF2B5EF4-FFF2-40B4-BE49-F238E27FC236}">
                <a16:creationId xmlns:a16="http://schemas.microsoft.com/office/drawing/2014/main" id="{0A1832C6-39BB-4398-8B5E-FB3CC42B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34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udit-list-item-2">
            <a:extLst xmlns:a="http://schemas.openxmlformats.org/drawingml/2006/main">
              <a:ext uri="{FF2B5EF4-FFF2-40B4-BE49-F238E27FC236}">
                <a16:creationId xmlns:a16="http://schemas.microsoft.com/office/drawing/2014/main" id="{69B5DB3B-6E2A-4965-95E5-92FCFDD2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67425"/>
            <a:ext cx="3943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0 source-name, exact SHA-256 or perceptual-hash overlaps across splits.</a:t>
            </a:r>
          </a:p>
        </p:txBody>
      </p:sp>
      <p:sp>
        <p:nvSpPr>
          <p:cNvPr id="24" name="audit-list-dot-3">
            <a:extLst xmlns:a="http://schemas.openxmlformats.org/drawingml/2006/main">
              <a:ext uri="{FF2B5EF4-FFF2-40B4-BE49-F238E27FC236}">
                <a16:creationId xmlns:a16="http://schemas.microsoft.com/office/drawing/2014/main" id="{6D3BAF73-C8FC-4828-AF8E-82CE7935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udit-list-item-3">
            <a:extLst xmlns:a="http://schemas.openxmlformats.org/drawingml/2006/main">
              <a:ext uri="{FF2B5EF4-FFF2-40B4-BE49-F238E27FC236}">
                <a16:creationId xmlns:a16="http://schemas.microsoft.com/office/drawing/2014/main" id="{0DCF72A5-DAC7-4EBD-9112-125FD5CA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67475"/>
            <a:ext cx="3943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Class 1 corrected from face-cigarette-smoking to flame.</a:t>
            </a:r>
          </a:p>
        </p:txBody>
      </p:sp>
      <p:sp>
        <p:nvSpPr>
          <p:cNvPr id="26" name="method-arrow-1">
            <a:extLst xmlns:a="http://schemas.openxmlformats.org/drawingml/2006/main">
              <a:ext uri="{FF2B5EF4-FFF2-40B4-BE49-F238E27FC236}">
                <a16:creationId xmlns:a16="http://schemas.microsoft.com/office/drawing/2014/main" id="{F87F7D69-9410-4DA2-A741-4FD037D3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7181850"/>
            <a:ext cx="2286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ethod-arrow-2">
            <a:extLst xmlns:a="http://schemas.openxmlformats.org/drawingml/2006/main">
              <a:ext uri="{FF2B5EF4-FFF2-40B4-BE49-F238E27FC236}">
                <a16:creationId xmlns:a16="http://schemas.microsoft.com/office/drawing/2014/main" id="{CDEE1603-3015-47EC-BD4F-C04C2B1C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7181850"/>
            <a:ext cx="2286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arrow-3">
            <a:extLst xmlns:a="http://schemas.openxmlformats.org/drawingml/2006/main">
              <a:ext uri="{FF2B5EF4-FFF2-40B4-BE49-F238E27FC236}">
                <a16:creationId xmlns:a16="http://schemas.microsoft.com/office/drawing/2014/main" id="{786B3EF7-9E21-45F0-885D-21E5727B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7181850"/>
            <a:ext cx="2286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C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hod-node-group">
            <a:extLst xmlns:a="http://schemas.openxmlformats.org/drawingml/2006/main">
              <a:ext uri="{FF2B5EF4-FFF2-40B4-BE49-F238E27FC236}">
                <a16:creationId xmlns:a16="http://schemas.microsoft.com/office/drawing/2014/main" id="{7985EFDE-2DC1-4103-9034-C1FD4CC3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38975"/>
            <a:ext cx="838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30" name="method-label-group">
            <a:extLst xmlns:a="http://schemas.openxmlformats.org/drawingml/2006/main">
              <a:ext uri="{FF2B5EF4-FFF2-40B4-BE49-F238E27FC236}">
                <a16:creationId xmlns:a16="http://schemas.microsoft.com/office/drawing/2014/main" id="{D010C73E-1F0A-40A0-9E3C-24E15054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43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Raw export</a:t>
            </a:r>
          </a:p>
        </p:txBody>
      </p:sp>
      <p:sp>
        <p:nvSpPr>
          <p:cNvPr id="31" name="method-node-hash">
            <a:extLst xmlns:a="http://schemas.openxmlformats.org/drawingml/2006/main">
              <a:ext uri="{FF2B5EF4-FFF2-40B4-BE49-F238E27FC236}">
                <a16:creationId xmlns:a16="http://schemas.microsoft.com/office/drawing/2014/main" id="{B5B63420-B435-4FED-8DC4-C3A2C6CB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7038975"/>
            <a:ext cx="838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32" name="method-label-hash">
            <a:extLst xmlns:a="http://schemas.openxmlformats.org/drawingml/2006/main">
              <a:ext uri="{FF2B5EF4-FFF2-40B4-BE49-F238E27FC236}">
                <a16:creationId xmlns:a16="http://schemas.microsoft.com/office/drawing/2014/main" id="{A0EF6C39-89C3-4A90-9331-9F6FBB4D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7143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Source groups</a:t>
            </a:r>
          </a:p>
        </p:txBody>
      </p:sp>
      <p:sp>
        <p:nvSpPr>
          <p:cNvPr id="33" name="method-node-split">
            <a:extLst xmlns:a="http://schemas.openxmlformats.org/drawingml/2006/main">
              <a:ext uri="{FF2B5EF4-FFF2-40B4-BE49-F238E27FC236}">
                <a16:creationId xmlns:a16="http://schemas.microsoft.com/office/drawing/2014/main" id="{37C7D52D-5096-4AA3-A1D8-423415FA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7038975"/>
            <a:ext cx="838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34" name="method-label-split">
            <a:extLst xmlns:a="http://schemas.openxmlformats.org/drawingml/2006/main">
              <a:ext uri="{FF2B5EF4-FFF2-40B4-BE49-F238E27FC236}">
                <a16:creationId xmlns:a16="http://schemas.microsoft.com/office/drawing/2014/main" id="{9D2184CE-F552-4D5F-80D2-2F14D0FF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143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Deduplicate</a:t>
            </a:r>
          </a:p>
        </p:txBody>
      </p:sp>
      <p:sp>
        <p:nvSpPr>
          <p:cNvPr id="35" name="method-node-train">
            <a:extLst xmlns:a="http://schemas.openxmlformats.org/drawingml/2006/main">
              <a:ext uri="{FF2B5EF4-FFF2-40B4-BE49-F238E27FC236}">
                <a16:creationId xmlns:a16="http://schemas.microsoft.com/office/drawing/2014/main" id="{3E16D6AA-F469-49AC-912F-EB7DDA5B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7038975"/>
            <a:ext cx="838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9E2F5"/>
            </a:solidFill>
            <a:prstDash val="solid"/>
          </a:ln>
        </p:spPr>
      </p:sp>
      <p:sp>
        <p:nvSpPr>
          <p:cNvPr id="36" name="method-label-train">
            <a:extLst xmlns:a="http://schemas.openxmlformats.org/drawingml/2006/main">
              <a:ext uri="{FF2B5EF4-FFF2-40B4-BE49-F238E27FC236}">
                <a16:creationId xmlns:a16="http://schemas.microsoft.com/office/drawing/2014/main" id="{929D1ADF-4E92-4474-AD6A-B642CA24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71437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A9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5A9C"/>
                </a:solidFill>
                <a:latin typeface="Arial"/>
                <a:ea typeface="Arial"/>
                <a:cs typeface="Arial"/>
              </a:rPr>
              <a:t>Clean split</a:t>
            </a:r>
          </a:p>
        </p:txBody>
      </p:sp>
      <p:sp>
        <p:nvSpPr>
          <p:cNvPr id="37" name="setup-accent">
            <a:extLst xmlns:a="http://schemas.openxmlformats.org/drawingml/2006/main">
              <a:ext uri="{FF2B5EF4-FFF2-40B4-BE49-F238E27FC236}">
                <a16:creationId xmlns:a16="http://schemas.microsoft.com/office/drawing/2014/main" id="{964F1867-3C1A-4C3F-A43B-381466C5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53350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etup-title">
            <a:extLst xmlns:a="http://schemas.openxmlformats.org/drawingml/2006/main">
              <a:ext uri="{FF2B5EF4-FFF2-40B4-BE49-F238E27FC236}">
                <a16:creationId xmlns:a16="http://schemas.microsoft.com/office/drawing/2014/main" id="{814FD04E-BADF-4525-9EEF-85EB7C87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724775"/>
            <a:ext cx="3933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Reproducible local training</a:t>
            </a:r>
          </a:p>
        </p:txBody>
      </p:sp>
      <p:sp>
        <p:nvSpPr>
          <p:cNvPr id="39" name="setup-rule">
            <a:extLst xmlns:a="http://schemas.openxmlformats.org/drawingml/2006/main">
              <a:ext uri="{FF2B5EF4-FFF2-40B4-BE49-F238E27FC236}">
                <a16:creationId xmlns:a16="http://schemas.microsoft.com/office/drawing/2014/main" id="{79ECBC76-584D-4965-AB1C-25C87455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058150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40" name="setup-copy">
            <a:extLst xmlns:a="http://schemas.openxmlformats.org/drawingml/2006/main">
              <a:ext uri="{FF2B5EF4-FFF2-40B4-BE49-F238E27FC236}">
                <a16:creationId xmlns:a16="http://schemas.microsoft.com/office/drawing/2014/main" id="{4BFB1FB0-C4AD-4173-90E1-888644F2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43875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YOLOv5s  |  45 epochs  |  640 x 640</a:t>
            </a:r>
          </a:p>
          <a:p xmlns:a="http://schemas.openxmlformats.org/drawingml/2006/main"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Batch 8  |  Apple MPS  |  2 workers  |  seed 0</a:t>
            </a:r>
          </a:p>
          <a:p xmlns:a="http://schemas.openxmlformats.org/drawingml/2006/main"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Initialization: legacy best.pt; all layers unfrozen</a:t>
            </a:r>
          </a:p>
        </p:txBody>
      </p:sp>
      <p:sp>
        <p:nvSpPr>
          <p:cNvPr id="41" name="resource-strip">
            <a:extLst xmlns:a="http://schemas.openxmlformats.org/drawingml/2006/main">
              <a:ext uri="{FF2B5EF4-FFF2-40B4-BE49-F238E27FC236}">
                <a16:creationId xmlns:a16="http://schemas.microsoft.com/office/drawing/2014/main" id="{3F5CF0A0-BF9C-4F4F-8C7D-FB1DB51A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773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7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7C66"/>
                </a:solidFill>
                <a:latin typeface="Arial"/>
                <a:ea typeface="Arial"/>
                <a:cs typeface="Arial"/>
              </a:rPr>
              <a:t>2 h 04 min training   |   0 swaps   |   14 MB model</a:t>
            </a:r>
          </a:p>
        </p:txBody>
      </p:sp>
      <p:sp>
        <p:nvSpPr>
          <p:cNvPr id="42" name="comparison-accent">
            <a:extLst xmlns:a="http://schemas.openxmlformats.org/drawingml/2006/main">
              <a:ext uri="{FF2B5EF4-FFF2-40B4-BE49-F238E27FC236}">
                <a16:creationId xmlns:a16="http://schemas.microsoft.com/office/drawing/2014/main" id="{B8C9EB16-C182-4324-97FA-B745E031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62175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rison-title">
            <a:extLst xmlns:a="http://schemas.openxmlformats.org/drawingml/2006/main">
              <a:ext uri="{FF2B5EF4-FFF2-40B4-BE49-F238E27FC236}">
                <a16:creationId xmlns:a16="http://schemas.microsoft.com/office/drawing/2014/main" id="{C7E90708-1B02-43BA-AE17-F4D5C601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133600"/>
            <a:ext cx="3933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A fair test exposed the legacy gap</a:t>
            </a:r>
          </a:p>
        </p:txBody>
      </p:sp>
      <p:sp>
        <p:nvSpPr>
          <p:cNvPr id="44" name="comparison-rule">
            <a:extLst xmlns:a="http://schemas.openxmlformats.org/drawingml/2006/main">
              <a:ext uri="{FF2B5EF4-FFF2-40B4-BE49-F238E27FC236}">
                <a16:creationId xmlns:a16="http://schemas.microsoft.com/office/drawing/2014/main" id="{D2E5E27B-DFEF-4D0F-975F-1E016154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466975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45" name="comparison-copy">
            <a:extLst xmlns:a="http://schemas.openxmlformats.org/drawingml/2006/main">
              <a:ext uri="{FF2B5EF4-FFF2-40B4-BE49-F238E27FC236}">
                <a16:creationId xmlns:a16="http://schemas.microsoft.com/office/drawing/2014/main" id="{9B4F7E92-9954-4DAA-9350-6E35B83B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8127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legacy run looked strong on its own validation artifact, but the same checkpoint collapsed on the non-overlapping clean test. The drop is diagnostic evidence of evaluation leakage and label mismatch - not a model regression.</a:t>
            </a:r>
          </a:p>
        </p:txBody>
      </p:sp>
      <p:graphicFrame>
        <p:nvGraphicFramePr>
          <p:cNvPr id="152" name="Chart"/>
          <p:cNvGraphicFramePr/>
          <p:nvPr/>
        </p:nvGraphicFramePr>
        <p:xfrm>
          <a:off xmlns:a="http://schemas.openxmlformats.org/drawingml/2006/main" x="4914900" y="3571875"/>
          <a:ext xmlns:a="http://schemas.openxmlformats.org/drawingml/2006/main" cx="409575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baa24b16b1486b"/>
          </a:graphicData>
        </a:graphic>
      </p:graphicFrame>
      <p:sp>
        <p:nvSpPr>
          <p:cNvPr id="47" name="comparison-footnote">
            <a:extLst xmlns:a="http://schemas.openxmlformats.org/drawingml/2006/main">
              <a:ext uri="{FF2B5EF4-FFF2-40B4-BE49-F238E27FC236}">
                <a16:creationId xmlns:a16="http://schemas.microsoft.com/office/drawing/2014/main" id="{C7E897A0-B190-4805-9723-05FC1661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2293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58A2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58A2B"/>
                </a:solidFill>
                <a:latin typeface="Arial"/>
                <a:ea typeface="Arial"/>
                <a:cs typeface="Arial"/>
              </a:rPr>
              <a:t>*Legacy validation is not directly comparable: old split and old class definition.</a:t>
            </a:r>
          </a:p>
        </p:txBody>
      </p:sp>
      <p:sp>
        <p:nvSpPr>
          <p:cNvPr id="48" name="headline-result-panel">
            <a:extLst xmlns:a="http://schemas.openxmlformats.org/drawingml/2006/main">
              <a:ext uri="{FF2B5EF4-FFF2-40B4-BE49-F238E27FC236}">
                <a16:creationId xmlns:a16="http://schemas.microsoft.com/office/drawing/2014/main" id="{896F367D-3FB0-4371-8315-76A0123B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667500"/>
            <a:ext cx="4095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9525">
            <a:solidFill>
              <a:srgbClr val="B9E2F5"/>
            </a:solidFill>
            <a:prstDash val="solid"/>
          </a:ln>
        </p:spPr>
      </p:sp>
      <p:sp>
        <p:nvSpPr>
          <p:cNvPr id="49" name="map50-value">
            <a:extLst xmlns:a="http://schemas.openxmlformats.org/drawingml/2006/main">
              <a:ext uri="{FF2B5EF4-FFF2-40B4-BE49-F238E27FC236}">
                <a16:creationId xmlns:a16="http://schemas.microsoft.com/office/drawing/2014/main" id="{1B6B6D15-C0B8-427D-9941-9886C7CA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819900"/>
            <a:ext cx="192405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75A9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75A9C"/>
                </a:solidFill>
                <a:latin typeface="Arial"/>
                <a:ea typeface="Arial"/>
                <a:cs typeface="Arial"/>
              </a:rPr>
              <a:t>0.755</a:t>
            </a:r>
          </a:p>
        </p:txBody>
      </p:sp>
      <p:sp>
        <p:nvSpPr>
          <p:cNvPr id="50" name="map50-label">
            <a:extLst xmlns:a="http://schemas.openxmlformats.org/drawingml/2006/main">
              <a:ext uri="{FF2B5EF4-FFF2-40B4-BE49-F238E27FC236}">
                <a16:creationId xmlns:a16="http://schemas.microsoft.com/office/drawing/2014/main" id="{F7A17A6F-5096-4419-86D8-1E19BE3B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7344728"/>
            <a:ext cx="1828800" cy="33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independent test mAP@0.5</a:t>
            </a:r>
          </a:p>
        </p:txBody>
      </p:sp>
      <p:sp>
        <p:nvSpPr>
          <p:cNvPr id="51" name="map95-value">
            <a:extLst xmlns:a="http://schemas.openxmlformats.org/drawingml/2006/main">
              <a:ext uri="{FF2B5EF4-FFF2-40B4-BE49-F238E27FC236}">
                <a16:creationId xmlns:a16="http://schemas.microsoft.com/office/drawing/2014/main" id="{AA234F05-DEC1-43A2-BEC1-2BB96DAB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819900"/>
            <a:ext cx="1924050" cy="52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75A9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75A9C"/>
                </a:solidFill>
                <a:latin typeface="Arial"/>
                <a:ea typeface="Arial"/>
                <a:cs typeface="Arial"/>
              </a:rPr>
              <a:t>0.453</a:t>
            </a:r>
          </a:p>
        </p:txBody>
      </p:sp>
      <p:sp>
        <p:nvSpPr>
          <p:cNvPr id="52" name="map95-label">
            <a:extLst xmlns:a="http://schemas.openxmlformats.org/drawingml/2006/main">
              <a:ext uri="{FF2B5EF4-FFF2-40B4-BE49-F238E27FC236}">
                <a16:creationId xmlns:a16="http://schemas.microsoft.com/office/drawing/2014/main" id="{E49B4AE9-DDC6-4473-B04B-0765547B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7344728"/>
            <a:ext cx="1828800" cy="334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independent test mAP@0.5:0.95</a:t>
            </a:r>
          </a:p>
        </p:txBody>
      </p:sp>
      <p:sp>
        <p:nvSpPr>
          <p:cNvPr id="53" name="recovery-copy">
            <a:extLst xmlns:a="http://schemas.openxmlformats.org/drawingml/2006/main">
              <a:ext uri="{FF2B5EF4-FFF2-40B4-BE49-F238E27FC236}">
                <a16:creationId xmlns:a16="http://schemas.microsoft.com/office/drawing/2014/main" id="{94D2A4B3-23D0-4478-B99E-910ED67F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7753350"/>
            <a:ext cx="3752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2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5A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75A9C"/>
                </a:solidFill>
                <a:latin typeface="Arial"/>
                <a:ea typeface="Arial"/>
                <a:cs typeface="Arial"/>
              </a:rPr>
              <a:t>Retraining recovered 85% of the legacy artifact's mAP@0.5 while using a genuinely independent test split.</a:t>
            </a:r>
          </a:p>
        </p:txBody>
      </p:sp>
      <p:sp>
        <p:nvSpPr>
          <p:cNvPr id="54" name="overall-accent">
            <a:extLst xmlns:a="http://schemas.openxmlformats.org/drawingml/2006/main">
              <a:ext uri="{FF2B5EF4-FFF2-40B4-BE49-F238E27FC236}">
                <a16:creationId xmlns:a16="http://schemas.microsoft.com/office/drawing/2014/main" id="{31F1DF85-8181-42CD-8F1A-22A40792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505825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overall-title">
            <a:extLst xmlns:a="http://schemas.openxmlformats.org/drawingml/2006/main">
              <a:ext uri="{FF2B5EF4-FFF2-40B4-BE49-F238E27FC236}">
                <a16:creationId xmlns:a16="http://schemas.microsoft.com/office/drawing/2014/main" id="{88483B5C-6D67-4225-AD2B-DAC54E0F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8477250"/>
            <a:ext cx="3933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Independent test summary</a:t>
            </a:r>
          </a:p>
        </p:txBody>
      </p:sp>
      <p:sp>
        <p:nvSpPr>
          <p:cNvPr id="56" name="overall-rule">
            <a:extLst xmlns:a="http://schemas.openxmlformats.org/drawingml/2006/main">
              <a:ext uri="{FF2B5EF4-FFF2-40B4-BE49-F238E27FC236}">
                <a16:creationId xmlns:a16="http://schemas.microsoft.com/office/drawing/2014/main" id="{B32D742E-DC7B-424C-92ED-72755E55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8810625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57" name="overall-values">
            <a:extLst xmlns:a="http://schemas.openxmlformats.org/drawingml/2006/main">
              <a:ext uri="{FF2B5EF4-FFF2-40B4-BE49-F238E27FC236}">
                <a16:creationId xmlns:a16="http://schemas.microsoft.com/office/drawing/2014/main" id="{EBBA1D57-3346-4755-9AD0-FFEDA8AD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8924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Precision  0.841     Recall  0.680</a:t>
            </a:r>
          </a:p>
        </p:txBody>
      </p:sp>
      <p:sp>
        <p:nvSpPr>
          <p:cNvPr id="58" name="overall-note">
            <a:extLst xmlns:a="http://schemas.openxmlformats.org/drawingml/2006/main">
              <a:ext uri="{FF2B5EF4-FFF2-40B4-BE49-F238E27FC236}">
                <a16:creationId xmlns:a16="http://schemas.microsoft.com/office/drawing/2014/main" id="{935CD332-DC47-4ED2-8984-E75CBD11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92678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188 images  |  171 objects  |  11.3 ms/image at batch 8</a:t>
            </a:r>
          </a:p>
        </p:txBody>
      </p:sp>
      <p:sp>
        <p:nvSpPr>
          <p:cNvPr id="59" name="class-performance-accent">
            <a:extLst xmlns:a="http://schemas.openxmlformats.org/drawingml/2006/main">
              <a:ext uri="{FF2B5EF4-FFF2-40B4-BE49-F238E27FC236}">
                <a16:creationId xmlns:a16="http://schemas.microsoft.com/office/drawing/2014/main" id="{C0000F75-278A-4C43-B75B-6DF14201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62175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lass-performance-title">
            <a:extLst xmlns:a="http://schemas.openxmlformats.org/drawingml/2006/main">
              <a:ext uri="{FF2B5EF4-FFF2-40B4-BE49-F238E27FC236}">
                <a16:creationId xmlns:a16="http://schemas.microsoft.com/office/drawing/2014/main" id="{8C497A82-868E-4212-AC43-D0F927A1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133600"/>
            <a:ext cx="3933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Performance is strongest on smoke</a:t>
            </a:r>
          </a:p>
        </p:txBody>
      </p:sp>
      <p:sp>
        <p:nvSpPr>
          <p:cNvPr id="61" name="class-performance-rule">
            <a:extLst xmlns:a="http://schemas.openxmlformats.org/drawingml/2006/main">
              <a:ext uri="{FF2B5EF4-FFF2-40B4-BE49-F238E27FC236}">
                <a16:creationId xmlns:a16="http://schemas.microsoft.com/office/drawing/2014/main" id="{B3D62D01-B931-41A2-88F9-73C4B2EA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466975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graphicFrame>
        <p:nvGraphicFramePr>
          <p:cNvPr id="168" name="Chart"/>
          <p:cNvGraphicFramePr/>
          <p:nvPr/>
        </p:nvGraphicFramePr>
        <p:xfrm>
          <a:off xmlns:a="http://schemas.openxmlformats.org/drawingml/2006/main" x="9277350" y="2543175"/>
          <a:ext xmlns:a="http://schemas.openxmlformats.org/drawingml/2006/main" cx="4095750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62c535cbf94b44"/>
          </a:graphicData>
        </a:graphic>
      </p:graphicFrame>
      <p:sp>
        <p:nvSpPr>
          <p:cNvPr id="63" name="class-table-head">
            <a:extLst xmlns:a="http://schemas.openxmlformats.org/drawingml/2006/main">
              <a:ext uri="{FF2B5EF4-FFF2-40B4-BE49-F238E27FC236}">
                <a16:creationId xmlns:a16="http://schemas.microsoft.com/office/drawing/2014/main" id="{5D3A083A-2E25-4705-AEB9-2E9025F4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305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616D"/>
                </a:solidFill>
                <a:latin typeface="Arial"/>
                <a:ea typeface="Arial"/>
                <a:cs typeface="Arial"/>
              </a:rPr>
              <a:t>Class                 Precision       Recall       Instances</a:t>
            </a:r>
          </a:p>
        </p:txBody>
      </p:sp>
      <p:sp>
        <p:nvSpPr>
          <p:cNvPr id="64" name="class-table-rule">
            <a:extLst xmlns:a="http://schemas.openxmlformats.org/drawingml/2006/main">
              <a:ext uri="{FF2B5EF4-FFF2-40B4-BE49-F238E27FC236}">
                <a16:creationId xmlns:a16="http://schemas.microsoft.com/office/drawing/2014/main" id="{7E605B75-08C2-4343-BE23-311A1425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5721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65" name="class-table-rows">
            <a:extLst xmlns:a="http://schemas.openxmlformats.org/drawingml/2006/main">
              <a:ext uri="{FF2B5EF4-FFF2-40B4-BE49-F238E27FC236}">
                <a16:creationId xmlns:a16="http://schemas.microsoft.com/office/drawing/2014/main" id="{02F806C5-F46F-4365-A504-A6202942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6578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Cigarette            0.794             0.634          82</a:t>
            </a:r>
          </a:p>
          <a:p xmlns:a="http://schemas.openxmlformats.org/drawingml/2006/main"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Flame                  0.812             0.740          50</a:t>
            </a:r>
          </a:p>
          <a:p xmlns:a="http://schemas.openxmlformats.org/drawingml/2006/main">
            <a:pPr algn="l">
              <a:defRPr sz="1238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Smoke                 0.919             0.667          39</a:t>
            </a:r>
          </a:p>
        </p:txBody>
      </p:sp>
      <p:sp>
        <p:nvSpPr>
          <p:cNvPr id="66" name="training-accent">
            <a:extLst xmlns:a="http://schemas.openxmlformats.org/drawingml/2006/main">
              <a:ext uri="{FF2B5EF4-FFF2-40B4-BE49-F238E27FC236}">
                <a16:creationId xmlns:a16="http://schemas.microsoft.com/office/drawing/2014/main" id="{4C5EE29E-03EC-41D8-BCB3-C111AD23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600825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raining-title">
            <a:extLst xmlns:a="http://schemas.openxmlformats.org/drawingml/2006/main">
              <a:ext uri="{FF2B5EF4-FFF2-40B4-BE49-F238E27FC236}">
                <a16:creationId xmlns:a16="http://schemas.microsoft.com/office/drawing/2014/main" id="{32069284-ED3D-4E40-A95E-8886C52C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6572250"/>
            <a:ext cx="3933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Training remained stable</a:t>
            </a:r>
          </a:p>
        </p:txBody>
      </p:sp>
      <p:sp>
        <p:nvSpPr>
          <p:cNvPr id="68" name="training-rule">
            <a:extLst xmlns:a="http://schemas.openxmlformats.org/drawingml/2006/main">
              <a:ext uri="{FF2B5EF4-FFF2-40B4-BE49-F238E27FC236}">
                <a16:creationId xmlns:a16="http://schemas.microsoft.com/office/drawing/2014/main" id="{D69D70AE-2052-4331-AA80-52CD023A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6905625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69" name="training-image-frame">
            <a:extLst xmlns:a="http://schemas.openxmlformats.org/drawingml/2006/main">
              <a:ext uri="{FF2B5EF4-FFF2-40B4-BE49-F238E27FC236}">
                <a16:creationId xmlns:a16="http://schemas.microsoft.com/office/drawing/2014/main" id="{D9C2FD1D-1E6A-4156-9B51-B31DAC00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7000875"/>
            <a:ext cx="4095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ca1489daf4497"/>
          <a:stretch xmlns:a="http://schemas.openxmlformats.org/drawingml/2006/main"/>
        </p:blipFill>
        <p:spPr>
          <a:xfrm xmlns:a="http://schemas.openxmlformats.org/drawingml/2006/main">
            <a:off x="9334500" y="7138988"/>
            <a:ext cx="3981450" cy="1990725"/>
          </a:xfrm>
          <a:prstGeom xmlns:a="http://schemas.openxmlformats.org/drawingml/2006/main" prst="rect">
            <a:avLst/>
          </a:prstGeom>
        </p:spPr>
      </p:pic>
      <p:sp>
        <p:nvSpPr>
          <p:cNvPr id="71" name="training-caption">
            <a:extLst xmlns:a="http://schemas.openxmlformats.org/drawingml/2006/main">
              <a:ext uri="{FF2B5EF4-FFF2-40B4-BE49-F238E27FC236}">
                <a16:creationId xmlns:a16="http://schemas.microsoft.com/office/drawing/2014/main" id="{4F9559FF-3390-4FAA-BD71-12229429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93154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32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Losses declined while recall and both mAP measures continued to rise through the final epochs.</a:t>
            </a:r>
          </a:p>
        </p:txBody>
      </p:sp>
      <p:sp>
        <p:nvSpPr>
          <p:cNvPr id="72" name="qualitative-accent">
            <a:extLst xmlns:a="http://schemas.openxmlformats.org/drawingml/2006/main">
              <a:ext uri="{FF2B5EF4-FFF2-40B4-BE49-F238E27FC236}">
                <a16:creationId xmlns:a16="http://schemas.microsoft.com/office/drawing/2014/main" id="{7EBA41D0-C72F-4B7A-BE82-444291CC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162175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qualitative-title">
            <a:extLst xmlns:a="http://schemas.openxmlformats.org/drawingml/2006/main">
              <a:ext uri="{FF2B5EF4-FFF2-40B4-BE49-F238E27FC236}">
                <a16:creationId xmlns:a16="http://schemas.microsoft.com/office/drawing/2014/main" id="{307A324C-14CA-42A4-BF5C-233A160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2133600"/>
            <a:ext cx="3933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Qualitative evidence</a:t>
            </a:r>
          </a:p>
        </p:txBody>
      </p:sp>
      <p:sp>
        <p:nvSpPr>
          <p:cNvPr id="74" name="qualitative-rule">
            <a:extLst xmlns:a="http://schemas.openxmlformats.org/drawingml/2006/main">
              <a:ext uri="{FF2B5EF4-FFF2-40B4-BE49-F238E27FC236}">
                <a16:creationId xmlns:a16="http://schemas.microsoft.com/office/drawing/2014/main" id="{A7F410EC-FB02-4FDF-BB37-AA5584BD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2466975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5" name="inference-frame">
            <a:extLst xmlns:a="http://schemas.openxmlformats.org/drawingml/2006/main">
              <a:ext uri="{FF2B5EF4-FFF2-40B4-BE49-F238E27FC236}">
                <a16:creationId xmlns:a16="http://schemas.microsoft.com/office/drawing/2014/main" id="{25276BE9-34AF-42E9-A21C-3FA00B22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562225"/>
            <a:ext cx="1657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02bc4f9144ade"/>
          <a:stretch xmlns:a="http://schemas.openxmlformats.org/drawingml/2006/main"/>
        </p:blipFill>
        <p:spPr>
          <a:xfrm xmlns:a="http://schemas.openxmlformats.org/drawingml/2006/main">
            <a:off x="13687425" y="2800350"/>
            <a:ext cx="1562100" cy="1562100"/>
          </a:xfrm>
          <a:prstGeom xmlns:a="http://schemas.openxmlformats.org/drawingml/2006/main" prst="rect">
            <a:avLst/>
          </a:prstGeom>
        </p:spPr>
      </p:pic>
      <p:sp>
        <p:nvSpPr>
          <p:cNvPr id="77" name="matrix-frame">
            <a:extLst xmlns:a="http://schemas.openxmlformats.org/drawingml/2006/main">
              <a:ext uri="{FF2B5EF4-FFF2-40B4-BE49-F238E27FC236}">
                <a16:creationId xmlns:a16="http://schemas.microsoft.com/office/drawing/2014/main" id="{817F1384-78CB-43FC-992D-EB3263D0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2562225"/>
            <a:ext cx="2381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464cc1f7e46f1"/>
          <a:srcRect xmlns:a="http://schemas.openxmlformats.org/drawingml/2006/main" l="5882" t="0" r="58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01925" y="2609850"/>
            <a:ext cx="2286000" cy="1943100"/>
          </a:xfrm>
          <a:prstGeom xmlns:a="http://schemas.openxmlformats.org/drawingml/2006/main" prst="rect">
            <a:avLst/>
          </a:prstGeom>
        </p:spPr>
      </p:pic>
      <p:sp>
        <p:nvSpPr>
          <p:cNvPr id="79" name="qualitative-caption">
            <a:extLst xmlns:a="http://schemas.openxmlformats.org/drawingml/2006/main">
              <a:ext uri="{FF2B5EF4-FFF2-40B4-BE49-F238E27FC236}">
                <a16:creationId xmlns:a16="http://schemas.microsoft.com/office/drawing/2014/main" id="{36D701F2-6C43-4773-8FE8-F8A4B87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6577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Left: single-image flame detection (0.31).  Right: normalized clean-test confusion matrix.</a:t>
            </a:r>
          </a:p>
        </p:txBody>
      </p:sp>
      <p:sp>
        <p:nvSpPr>
          <p:cNvPr id="80" name="errors-accent">
            <a:extLst xmlns:a="http://schemas.openxmlformats.org/drawingml/2006/main">
              <a:ext uri="{FF2B5EF4-FFF2-40B4-BE49-F238E27FC236}">
                <a16:creationId xmlns:a16="http://schemas.microsoft.com/office/drawing/2014/main" id="{B1CC7ECD-EB14-460B-9FF2-009E909A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124450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errors-title">
            <a:extLst xmlns:a="http://schemas.openxmlformats.org/drawingml/2006/main">
              <a:ext uri="{FF2B5EF4-FFF2-40B4-BE49-F238E27FC236}">
                <a16:creationId xmlns:a16="http://schemas.microsoft.com/office/drawing/2014/main" id="{3A9CF5CD-7276-45E9-BB87-CD1BA4AF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5095875"/>
            <a:ext cx="3933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What the errors mean</a:t>
            </a:r>
          </a:p>
        </p:txBody>
      </p:sp>
      <p:sp>
        <p:nvSpPr>
          <p:cNvPr id="82" name="errors-rule">
            <a:extLst xmlns:a="http://schemas.openxmlformats.org/drawingml/2006/main">
              <a:ext uri="{FF2B5EF4-FFF2-40B4-BE49-F238E27FC236}">
                <a16:creationId xmlns:a16="http://schemas.microsoft.com/office/drawing/2014/main" id="{C92AE5BB-F3E7-4DB1-B754-39838548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5429250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83" name="error-list-dot-1">
            <a:extLst xmlns:a="http://schemas.openxmlformats.org/drawingml/2006/main">
              <a:ext uri="{FF2B5EF4-FFF2-40B4-BE49-F238E27FC236}">
                <a16:creationId xmlns:a16="http://schemas.microsoft.com/office/drawing/2014/main" id="{B41FDBC9-5BEF-4320-AB5C-DC61B2B3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6102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error-list-item-1">
            <a:extLst xmlns:a="http://schemas.openxmlformats.org/drawingml/2006/main">
              <a:ext uri="{FF2B5EF4-FFF2-40B4-BE49-F238E27FC236}">
                <a16:creationId xmlns:a16="http://schemas.microsoft.com/office/drawing/2014/main" id="{406D8913-B95A-4353-8C0A-EE52621F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55435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Smoke leads: precision 0.919 and AP@0.5:0.95 0.595.</a:t>
            </a:r>
          </a:p>
        </p:txBody>
      </p:sp>
      <p:sp>
        <p:nvSpPr>
          <p:cNvPr id="85" name="error-list-dot-2">
            <a:extLst xmlns:a="http://schemas.openxmlformats.org/drawingml/2006/main">
              <a:ext uri="{FF2B5EF4-FFF2-40B4-BE49-F238E27FC236}">
                <a16:creationId xmlns:a16="http://schemas.microsoft.com/office/drawing/2014/main" id="{6EB399EC-AFA2-4606-8597-BA42E74D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972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error-list-item-2">
            <a:extLst xmlns:a="http://schemas.openxmlformats.org/drawingml/2006/main">
              <a:ext uri="{FF2B5EF4-FFF2-40B4-BE49-F238E27FC236}">
                <a16:creationId xmlns:a16="http://schemas.microsoft.com/office/drawing/2014/main" id="{51699FAE-A3B8-4C4A-8EB8-074E61F4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590550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Cigarette recall remains 0.634: small targets and hand occlusion still matter.</a:t>
            </a:r>
          </a:p>
        </p:txBody>
      </p:sp>
      <p:sp>
        <p:nvSpPr>
          <p:cNvPr id="87" name="error-list-dot-3">
            <a:extLst xmlns:a="http://schemas.openxmlformats.org/drawingml/2006/main">
              <a:ext uri="{FF2B5EF4-FFF2-40B4-BE49-F238E27FC236}">
                <a16:creationId xmlns:a16="http://schemas.microsoft.com/office/drawing/2014/main" id="{7273DFCC-ADA6-4584-9C78-197485B0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334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error-list-item-3">
            <a:extLst xmlns:a="http://schemas.openxmlformats.org/drawingml/2006/main">
              <a:ext uri="{FF2B5EF4-FFF2-40B4-BE49-F238E27FC236}">
                <a16:creationId xmlns:a16="http://schemas.microsoft.com/office/drawing/2014/main" id="{6DD6F240-AA34-411D-AA53-B0A9B654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26745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Flame recall is 0.740, but AP@0.5:0.95 is 0.360: localization needs improvement.</a:t>
            </a:r>
          </a:p>
        </p:txBody>
      </p:sp>
      <p:sp>
        <p:nvSpPr>
          <p:cNvPr id="89" name="error-list-dot-4">
            <a:extLst xmlns:a="http://schemas.openxmlformats.org/drawingml/2006/main">
              <a:ext uri="{FF2B5EF4-FFF2-40B4-BE49-F238E27FC236}">
                <a16:creationId xmlns:a16="http://schemas.microsoft.com/office/drawing/2014/main" id="{C0B26DEE-E256-4804-AC85-7B9D3027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6696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error-list-item-4">
            <a:extLst xmlns:a="http://schemas.openxmlformats.org/drawingml/2006/main">
              <a:ext uri="{FF2B5EF4-FFF2-40B4-BE49-F238E27FC236}">
                <a16:creationId xmlns:a16="http://schemas.microsoft.com/office/drawing/2014/main" id="{373113F5-C0A4-4216-A7E9-40871943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662940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Missed targets dominate more than cross-class confusion on the clean test.</a:t>
            </a:r>
          </a:p>
        </p:txBody>
      </p:sp>
      <p:sp>
        <p:nvSpPr>
          <p:cNvPr id="91" name="next-accent">
            <a:extLst xmlns:a="http://schemas.openxmlformats.org/drawingml/2006/main">
              <a:ext uri="{FF2B5EF4-FFF2-40B4-BE49-F238E27FC236}">
                <a16:creationId xmlns:a16="http://schemas.microsoft.com/office/drawing/2014/main" id="{D8EB7951-0BE0-47BA-AC95-C0B027EA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7191375"/>
            <a:ext cx="666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next-title">
            <a:extLst xmlns:a="http://schemas.openxmlformats.org/drawingml/2006/main">
              <a:ext uri="{FF2B5EF4-FFF2-40B4-BE49-F238E27FC236}">
                <a16:creationId xmlns:a16="http://schemas.microsoft.com/office/drawing/2014/main" id="{3E3771E4-9A2E-43E2-AFCB-D6A9F03F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7162800"/>
            <a:ext cx="3933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Deployment and next steps</a:t>
            </a:r>
          </a:p>
        </p:txBody>
      </p:sp>
      <p:sp>
        <p:nvSpPr>
          <p:cNvPr id="93" name="next-rule">
            <a:extLst xmlns:a="http://schemas.openxmlformats.org/drawingml/2006/main">
              <a:ext uri="{FF2B5EF4-FFF2-40B4-BE49-F238E27FC236}">
                <a16:creationId xmlns:a16="http://schemas.microsoft.com/office/drawing/2014/main" id="{CF9D46A3-8995-44D4-8826-1D1F5859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7496175"/>
            <a:ext cx="393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94" name="next-list-dot-1">
            <a:extLst xmlns:a="http://schemas.openxmlformats.org/drawingml/2006/main">
              <a:ext uri="{FF2B5EF4-FFF2-40B4-BE49-F238E27FC236}">
                <a16:creationId xmlns:a16="http://schemas.microsoft.com/office/drawing/2014/main" id="{D60FF4D2-A6F3-4615-A8DD-8A9202A5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7677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next-list-item-1">
            <a:extLst xmlns:a="http://schemas.openxmlformats.org/drawingml/2006/main">
              <a:ext uri="{FF2B5EF4-FFF2-40B4-BE49-F238E27FC236}">
                <a16:creationId xmlns:a16="http://schemas.microsoft.com/office/drawing/2014/main" id="{A15EF863-264D-4E8E-A3B8-4C413EA6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61047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Add small-cigarette, low-light, occlusion, fog and steam hard negatives.</a:t>
            </a:r>
          </a:p>
        </p:txBody>
      </p:sp>
      <p:sp>
        <p:nvSpPr>
          <p:cNvPr id="96" name="next-list-dot-2">
            <a:extLst xmlns:a="http://schemas.openxmlformats.org/drawingml/2006/main">
              <a:ext uri="{FF2B5EF4-FFF2-40B4-BE49-F238E27FC236}">
                <a16:creationId xmlns:a16="http://schemas.microsoft.com/office/drawing/2014/main" id="{B125ED4F-D822-4491-ACED-62326A98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039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next-list-item-2">
            <a:extLst xmlns:a="http://schemas.openxmlformats.org/drawingml/2006/main">
              <a:ext uri="{FF2B5EF4-FFF2-40B4-BE49-F238E27FC236}">
                <a16:creationId xmlns:a16="http://schemas.microsoft.com/office/drawing/2014/main" id="{5D5990FB-DFC5-49D2-A306-8D7BF4F2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797242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Calibrate confidence per class and test temporal consistency on video.</a:t>
            </a:r>
          </a:p>
        </p:txBody>
      </p:sp>
      <p:sp>
        <p:nvSpPr>
          <p:cNvPr id="98" name="next-list-dot-3">
            <a:extLst xmlns:a="http://schemas.openxmlformats.org/drawingml/2006/main">
              <a:ext uri="{FF2B5EF4-FFF2-40B4-BE49-F238E27FC236}">
                <a16:creationId xmlns:a16="http://schemas.microsoft.com/office/drawing/2014/main" id="{3ACD46B1-AF5F-4A3B-AFF4-3CF6C684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401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next-list-item-3">
            <a:extLst xmlns:a="http://schemas.openxmlformats.org/drawingml/2006/main">
              <a:ext uri="{FF2B5EF4-FFF2-40B4-BE49-F238E27FC236}">
                <a16:creationId xmlns:a16="http://schemas.microsoft.com/office/drawing/2014/main" id="{75355FC5-BFA5-4C55-99A7-FFDF6C97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33437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Validate on unseen buildings before safety-critical deployment.</a:t>
            </a:r>
          </a:p>
        </p:txBody>
      </p:sp>
      <p:sp>
        <p:nvSpPr>
          <p:cNvPr id="100" name="next-list-dot-4">
            <a:extLst xmlns:a="http://schemas.openxmlformats.org/drawingml/2006/main">
              <a:ext uri="{FF2B5EF4-FFF2-40B4-BE49-F238E27FC236}">
                <a16:creationId xmlns:a16="http://schemas.microsoft.com/office/drawing/2014/main" id="{2F88AE94-1C8C-4EF3-A14D-902D0263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8763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next-list-item-4">
            <a:extLst xmlns:a="http://schemas.openxmlformats.org/drawingml/2006/main">
              <a:ext uri="{FF2B5EF4-FFF2-40B4-BE49-F238E27FC236}">
                <a16:creationId xmlns:a16="http://schemas.microsoft.com/office/drawing/2014/main" id="{96A6B127-AB6F-4E10-8263-667C8855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8696325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Connect verified alerts to the escape-route planning prototype.</a:t>
            </a:r>
          </a:p>
        </p:txBody>
      </p:sp>
      <p:sp>
        <p:nvSpPr>
          <p:cNvPr id="102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6EE32E4B-45FD-4AAA-A0F8-ABA7BB4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9039225"/>
            <a:ext cx="4095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F2C991"/>
            </a:solidFill>
            <a:prstDash val="solid"/>
          </a:ln>
        </p:spPr>
      </p:sp>
      <p:sp>
        <p:nvSpPr>
          <p:cNvPr id="103" name="conclusion-text">
            <a:extLst xmlns:a="http://schemas.openxmlformats.org/drawingml/2006/main">
              <a:ext uri="{FF2B5EF4-FFF2-40B4-BE49-F238E27FC236}">
                <a16:creationId xmlns:a16="http://schemas.microsoft.com/office/drawing/2014/main" id="{5836DDF0-121C-4635-A5D2-35B50580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9124950"/>
            <a:ext cx="3867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182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4B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A4B0F"/>
                </a:solidFill>
                <a:latin typeface="Arial"/>
                <a:ea typeface="Arial"/>
                <a:cs typeface="Arial"/>
              </a:rPr>
              <a:t>Trustworthy splitting changed the story: the detector now generalizes on a clean test instead of only scoring well on its own validation data.</a:t>
            </a:r>
          </a:p>
        </p:txBody>
      </p:sp>
      <p:sp>
        <p:nvSpPr>
          <p:cNvPr id="10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D3EAD40-701E-4D0F-AE43-F03D2378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53600"/>
            <a:ext cx="1718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0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730005B-EE60-4105-8841-B3E7D5C8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77425"/>
            <a:ext cx="1200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Sources: URIS progress report; leakage audit; full_clean_45e; independent clean test. Full methods and weights:</a:t>
            </a:r>
          </a:p>
        </p:txBody>
      </p:sp>
      <p:sp>
        <p:nvSpPr>
          <p:cNvPr id="106" name="footer-link">
            <a:extLst xmlns:a="http://schemas.openxmlformats.org/drawingml/2006/main">
              <a:ext uri="{FF2B5EF4-FFF2-40B4-BE49-F238E27FC236}">
                <a16:creationId xmlns:a16="http://schemas.microsoft.com/office/drawing/2014/main" id="{EA5BD605-191E-49EA-9072-D07F7311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9877425"/>
            <a:ext cx="5210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38" b="1">
                <a:solidFill>
                  <a:srgbClr val="075A9C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075A9C"/>
                </a:solidFill>
                <a:latin typeface="Arial"/>
                <a:ea typeface="Arial"/>
                <a:cs typeface="Arial"/>
              </a:rPr>
              <a:t>github.com/Llleeeo/Smoke-and-Fire-detection-model-and-implementation-</a:t>
            </a:r>
          </a:p>
        </p:txBody>
      </p:sp>
    </p:spTree>
    <p:extLst>
      <p:ext uri="{BB962C8B-B14F-4D97-AF65-F5344CB8AC3E}">
        <p14:creationId xmlns:p14="http://schemas.microsoft.com/office/powerpoint/2010/main" val="714701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2026-08-11T14:26:53.8600000Z</dcterms:created>
  <dcterms:modified xsi:type="dcterms:W3CDTF">2026-08-11T14:26:53.8600000Z</dcterms:modified>
</coreProperties>
</file>